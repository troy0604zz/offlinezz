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7375bd2eb4a7d" /><Relationship Type="http://schemas.openxmlformats.org/officeDocument/2006/relationships/extended-properties" Target="/docProps/app.xml" Id="R1ba018ef3f9e4e08" /><Relationship Type="http://schemas.openxmlformats.org/officeDocument/2006/relationships/officeDocument" Target="/ppt/presentation.xml" Id="R50eaeef5fb44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30b110c0084453"/>
  </p:sldMasterIdLst>
  <p:notesMasterIdLst>
    <p:notesMasterId xmlns:r="http://schemas.openxmlformats.org/officeDocument/2006/relationships" r:id="R4b2a597067514115"/>
  </p:notesMasterIdLst>
  <p:sldIdLst>
    <p:sldId xmlns:r="http://schemas.openxmlformats.org/officeDocument/2006/relationships" id="256" r:id="R2dd99824a2004e61"/>
    <p:sldId xmlns:r="http://schemas.openxmlformats.org/officeDocument/2006/relationships" id="257" r:id="Rcc7d26208bb34d02"/>
    <p:sldId xmlns:r="http://schemas.openxmlformats.org/officeDocument/2006/relationships" id="258" r:id="Rf39c4900cc3b4074"/>
    <p:sldId xmlns:r="http://schemas.openxmlformats.org/officeDocument/2006/relationships" id="259" r:id="R4e895b78cab847ca"/>
    <p:sldId xmlns:r="http://schemas.openxmlformats.org/officeDocument/2006/relationships" id="260" r:id="Rea40733e6a2745c3"/>
    <p:sldId xmlns:r="http://schemas.openxmlformats.org/officeDocument/2006/relationships" id="261" r:id="Rd2dcf7b9d1de4a6b"/>
    <p:sldId xmlns:r="http://schemas.openxmlformats.org/officeDocument/2006/relationships" id="262" r:id="R997cfacc031e4e05"/>
    <p:sldId xmlns:r="http://schemas.openxmlformats.org/officeDocument/2006/relationships" id="263" r:id="R5a9dce61d4434a55"/>
    <p:sldId xmlns:r="http://schemas.openxmlformats.org/officeDocument/2006/relationships" id="264" r:id="R46c475971c194d60"/>
    <p:sldId xmlns:r="http://schemas.openxmlformats.org/officeDocument/2006/relationships" id="265" r:id="Rdbccbaa17cc042cc"/>
    <p:sldId xmlns:r="http://schemas.openxmlformats.org/officeDocument/2006/relationships" id="266" r:id="Ra33c4f4c4e4a4c94"/>
    <p:sldId xmlns:r="http://schemas.openxmlformats.org/officeDocument/2006/relationships" id="267" r:id="R7ed25890498b4aac"/>
    <p:sldId xmlns:r="http://schemas.openxmlformats.org/officeDocument/2006/relationships" id="268" r:id="Rdb7b406669084b74"/>
    <p:sldId xmlns:r="http://schemas.openxmlformats.org/officeDocument/2006/relationships" id="269" r:id="Rc66b1ac96ae746f4"/>
    <p:sldId xmlns:r="http://schemas.openxmlformats.org/officeDocument/2006/relationships" id="270" r:id="R1516b47ebcd74a1b"/>
    <p:sldId xmlns:r="http://schemas.openxmlformats.org/officeDocument/2006/relationships" id="271" r:id="R7620e912951141a4"/>
    <p:sldId xmlns:r="http://schemas.openxmlformats.org/officeDocument/2006/relationships" id="272" r:id="R8098f8d4a4024cde"/>
    <p:sldId xmlns:r="http://schemas.openxmlformats.org/officeDocument/2006/relationships" id="273" r:id="Re81e298efcc644aa"/>
    <p:sldId xmlns:r="http://schemas.openxmlformats.org/officeDocument/2006/relationships" id="274" r:id="R16bb4b8167814854"/>
    <p:sldId xmlns:r="http://schemas.openxmlformats.org/officeDocument/2006/relationships" id="275" r:id="R1797434a2d3c4a5b"/>
    <p:sldId xmlns:r="http://schemas.openxmlformats.org/officeDocument/2006/relationships" id="276" r:id="R7c3a1ad6d86f4c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c9bd2f29884195" /><Relationship Type="http://schemas.openxmlformats.org/officeDocument/2006/relationships/slideMaster" Target="/ppt/slideMasters/slideMaster1.xml" Id="R1b30b110c0084453" /><Relationship Type="http://schemas.openxmlformats.org/officeDocument/2006/relationships/notesMaster" Target="/ppt/notesMasters/notesMaster1.xml" Id="R4b2a597067514115" /><Relationship Type="http://schemas.openxmlformats.org/officeDocument/2006/relationships/presProps" Target="/ppt/presProps.xml" Id="R6c628a36ddb2492c" /><Relationship Type="http://schemas.openxmlformats.org/officeDocument/2006/relationships/tableStyles" Target="/ppt/tableStyles.xml" Id="Rb6088927da314e76" /><Relationship Type="http://schemas.openxmlformats.org/officeDocument/2006/relationships/slide" Target="/ppt/slides/slide1.xml" Id="R2dd99824a2004e61" /><Relationship Type="http://schemas.openxmlformats.org/officeDocument/2006/relationships/slide" Target="/ppt/slides/slide2.xml" Id="Rcc7d26208bb34d02" /><Relationship Type="http://schemas.openxmlformats.org/officeDocument/2006/relationships/slide" Target="/ppt/slides/slide3.xml" Id="Rf39c4900cc3b4074" /><Relationship Type="http://schemas.openxmlformats.org/officeDocument/2006/relationships/slide" Target="/ppt/slides/slide4.xml" Id="R4e895b78cab847ca" /><Relationship Type="http://schemas.openxmlformats.org/officeDocument/2006/relationships/slide" Target="/ppt/slides/slide5.xml" Id="Rea40733e6a2745c3" /><Relationship Type="http://schemas.openxmlformats.org/officeDocument/2006/relationships/slide" Target="/ppt/slides/slide6.xml" Id="Rd2dcf7b9d1de4a6b" /><Relationship Type="http://schemas.openxmlformats.org/officeDocument/2006/relationships/slide" Target="/ppt/slides/slide7.xml" Id="R997cfacc031e4e05" /><Relationship Type="http://schemas.openxmlformats.org/officeDocument/2006/relationships/slide" Target="/ppt/slides/slide8.xml" Id="R5a9dce61d4434a55" /><Relationship Type="http://schemas.openxmlformats.org/officeDocument/2006/relationships/slide" Target="/ppt/slides/slide9.xml" Id="R46c475971c194d60" /><Relationship Type="http://schemas.openxmlformats.org/officeDocument/2006/relationships/slide" Target="/ppt/slides/slide10.xml" Id="Rdbccbaa17cc042cc" /><Relationship Type="http://schemas.openxmlformats.org/officeDocument/2006/relationships/slide" Target="/ppt/slides/slide11.xml" Id="Ra33c4f4c4e4a4c94" /><Relationship Type="http://schemas.openxmlformats.org/officeDocument/2006/relationships/slide" Target="/ppt/slides/slide12.xml" Id="R7ed25890498b4aac" /><Relationship Type="http://schemas.openxmlformats.org/officeDocument/2006/relationships/slide" Target="/ppt/slides/slide13.xml" Id="Rdb7b406669084b74" /><Relationship Type="http://schemas.openxmlformats.org/officeDocument/2006/relationships/slide" Target="/ppt/slides/slide14.xml" Id="Rc66b1ac96ae746f4" /><Relationship Type="http://schemas.openxmlformats.org/officeDocument/2006/relationships/slide" Target="/ppt/slides/slide15.xml" Id="R1516b47ebcd74a1b" /><Relationship Type="http://schemas.openxmlformats.org/officeDocument/2006/relationships/slide" Target="/ppt/slides/slide16.xml" Id="R7620e912951141a4" /><Relationship Type="http://schemas.openxmlformats.org/officeDocument/2006/relationships/slide" Target="/ppt/slides/slide17.xml" Id="R8098f8d4a4024cde" /><Relationship Type="http://schemas.openxmlformats.org/officeDocument/2006/relationships/slide" Target="/ppt/slides/slide18.xml" Id="Re81e298efcc644aa" /><Relationship Type="http://schemas.openxmlformats.org/officeDocument/2006/relationships/slide" Target="/ppt/slides/slide19.xml" Id="R16bb4b8167814854" /><Relationship Type="http://schemas.openxmlformats.org/officeDocument/2006/relationships/slide" Target="/ppt/slides/slide20.xml" Id="R1797434a2d3c4a5b" /><Relationship Type="http://schemas.openxmlformats.org/officeDocument/2006/relationships/slide" Target="/ppt/slides/slide21.xml" Id="R7c3a1ad6d86f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baaf81647c46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70fcbc923c411e" /><Relationship Type="http://schemas.openxmlformats.org/officeDocument/2006/relationships/notesMaster" Target="/ppt/notesMasters/notesMaster1.xml" Id="R12d368820ddc47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bf4cd597dc40bf" /><Relationship Type="http://schemas.openxmlformats.org/officeDocument/2006/relationships/notesMaster" Target="/ppt/notesMasters/notesMaster1.xml" Id="R9f304848e08b46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b5435b9af4de4" /><Relationship Type="http://schemas.openxmlformats.org/officeDocument/2006/relationships/notesMaster" Target="/ppt/notesMasters/notesMaster1.xml" Id="Rbf7f2c2612f148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0c40361ed4484a" /><Relationship Type="http://schemas.openxmlformats.org/officeDocument/2006/relationships/notesMaster" Target="/ppt/notesMasters/notesMaster1.xml" Id="R74528ee03f144d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57263892354d25" /><Relationship Type="http://schemas.openxmlformats.org/officeDocument/2006/relationships/notesMaster" Target="/ppt/notesMasters/notesMaster1.xml" Id="R87574de5501048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c9cd53b344037" /><Relationship Type="http://schemas.openxmlformats.org/officeDocument/2006/relationships/notesMaster" Target="/ppt/notesMasters/notesMaster1.xml" Id="Ra9cd9d8c297b41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8de66eb23b493a" /><Relationship Type="http://schemas.openxmlformats.org/officeDocument/2006/relationships/notesMaster" Target="/ppt/notesMasters/notesMaster1.xml" Id="R2abe09887c8349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7882752a244820" /><Relationship Type="http://schemas.openxmlformats.org/officeDocument/2006/relationships/notesMaster" Target="/ppt/notesMasters/notesMaster1.xml" Id="Rd78b26dd75234a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2c478dd00a4e3c" /><Relationship Type="http://schemas.openxmlformats.org/officeDocument/2006/relationships/notesMaster" Target="/ppt/notesMasters/notesMaster1.xml" Id="R7d7e1c688fcb4f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b97b48bff74386" /><Relationship Type="http://schemas.openxmlformats.org/officeDocument/2006/relationships/notesMaster" Target="/ppt/notesMasters/notesMaster1.xml" Id="R3bc584569c3249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72e11ae13e4792" /><Relationship Type="http://schemas.openxmlformats.org/officeDocument/2006/relationships/notesMaster" Target="/ppt/notesMasters/notesMaster1.xml" Id="R6b0d5d63440f43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4b19ed3afd4e66" /><Relationship Type="http://schemas.openxmlformats.org/officeDocument/2006/relationships/notesMaster" Target="/ppt/notesMasters/notesMaster1.xml" Id="Rcc20d483f90d47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25639c3aa240b2" /><Relationship Type="http://schemas.openxmlformats.org/officeDocument/2006/relationships/notesMaster" Target="/ppt/notesMasters/notesMaster1.xml" Id="R39340f79f24346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d958afe04e4d16" /><Relationship Type="http://schemas.openxmlformats.org/officeDocument/2006/relationships/notesMaster" Target="/ppt/notesMasters/notesMaster1.xml" Id="R2793e5f0710649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e18bd5a9a74e86" /><Relationship Type="http://schemas.openxmlformats.org/officeDocument/2006/relationships/notesMaster" Target="/ppt/notesMasters/notesMaster1.xml" Id="Rc0160c52cda947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f01a9621654226" /><Relationship Type="http://schemas.openxmlformats.org/officeDocument/2006/relationships/notesMaster" Target="/ppt/notesMasters/notesMaster1.xml" Id="Rae4c3635e5274b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9b6bab050244d5" /><Relationship Type="http://schemas.openxmlformats.org/officeDocument/2006/relationships/notesMaster" Target="/ppt/notesMasters/notesMaster1.xml" Id="R7c7bc20109c148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a7db3e940f459a" /><Relationship Type="http://schemas.openxmlformats.org/officeDocument/2006/relationships/notesMaster" Target="/ppt/notesMasters/notesMaster1.xml" Id="Ra850b90de7814e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d4a91e47cf4ee1" /><Relationship Type="http://schemas.openxmlformats.org/officeDocument/2006/relationships/notesMaster" Target="/ppt/notesMasters/notesMaster1.xml" Id="Rdc9b2eb5c07641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9f56ab84a804b73" /><Relationship Type="http://schemas.openxmlformats.org/officeDocument/2006/relationships/notesMaster" Target="/ppt/notesMasters/notesMaster1.xml" Id="R3e771014371046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149615a7594d21" /><Relationship Type="http://schemas.openxmlformats.org/officeDocument/2006/relationships/notesMaster" Target="/ppt/notesMasters/notesMaster1.xml" Id="Rc4b9d8ef5b12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开场强调：这不是大模型直连数据库，而是受控的数据智能工作流。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docs/当前实现范围与后续开发.md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docs/AI训练中心使用说明.md</a:t>
            </a:r>
          </a:p>
          <a:p xmlns:a="http://schemas.openxmlformats.org/drawingml/2006/main">
            <a:r>
              <a:t>- server/src/main/java/com/example/aibi/query/QueryOrchestrator.java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web/src/router/index.ts</a:t>
            </a:r>
          </a:p>
          <a:p xmlns:a="http://schemas.openxmlformats.org/drawingml/2006/main">
            <a:r>
              <a:t>- docs/当前实现范围与后续开发.md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server/src/main/java/com/example/aibi/*</a:t>
            </a:r>
          </a:p>
          <a:p xmlns:a="http://schemas.openxmlformats.org/drawingml/2006/main">
            <a:r>
              <a:t>- web/src/*</a:t>
            </a:r>
          </a:p>
          <a:p xmlns:a="http://schemas.openxmlformats.org/drawingml/2006/main">
            <a:r>
              <a:t>- server/src/main/resources/application.yml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server/src/main/java/com/example/aibi/query/QueryOrchestrator.java</a:t>
            </a:r>
          </a:p>
          <a:p xmlns:a="http://schemas.openxmlformats.org/drawingml/2006/main">
            <a:r>
              <a:t>- SqlGuard.java</a:t>
            </a:r>
          </a:p>
          <a:p xmlns:a="http://schemas.openxmlformats.org/drawingml/2006/main">
            <a:r>
              <a:t>- SafeQueryExecutor.java</a:t>
            </a:r>
          </a:p>
          <a:p xmlns:a="http://schemas.openxmlformats.org/drawingml/2006/main">
            <a:r>
              <a:t>- SqlPromptFactory.java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docs/AI训练中心使用说明.md</a:t>
            </a:r>
          </a:p>
          <a:p xmlns:a="http://schemas.openxmlformats.org/drawingml/2006/main">
            <a:r>
              <a:t>- server/src/main/java/com/example/aibi/training/*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docs/assets/system-screenshots/01-login.png</a:t>
            </a:r>
          </a:p>
          <a:p xmlns:a="http://schemas.openxmlformats.org/drawingml/2006/main">
            <a:r>
              <a:t>- server/src/main/java/com/example/aibi/auth/*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docs/assets/system-screenshots/02-query-result.png</a:t>
            </a:r>
          </a:p>
          <a:p xmlns:a="http://schemas.openxmlformats.org/drawingml/2006/main">
            <a:r>
              <a:t>- server/src/main/java/com/example/aibi/query/QueryExportService.java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docs/assets/system-screenshots/03-smart-report.png</a:t>
            </a:r>
          </a:p>
          <a:p xmlns:a="http://schemas.openxmlformats.org/drawingml/2006/main">
            <a:r>
              <a:t>- server/src/main/java/com/example/aibi/report/ReportService.java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docs/assets/system-screenshots/04-training-overview.png</a:t>
            </a:r>
          </a:p>
          <a:p xmlns:a="http://schemas.openxmlformats.org/drawingml/2006/main">
            <a:r>
              <a:t>- docs/AI训练中心使用说明.md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docs/assets/system-screenshots/05-model-runtime.png</a:t>
            </a:r>
          </a:p>
          <a:p xmlns:a="http://schemas.openxmlformats.org/drawingml/2006/main">
            <a:r>
              <a:t>- server/src/main/java/com/example/aibi/config/ModelRuntimeService.java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server/src/main/java/com/example/aibi/auth/SecurityConfig.java</a:t>
            </a:r>
          </a:p>
          <a:p xmlns:a="http://schemas.openxmlformats.org/drawingml/2006/main">
            <a:r>
              <a:t>- query/SqlGuard.java</a:t>
            </a:r>
          </a:p>
          <a:p xmlns:a="http://schemas.openxmlformats.org/drawingml/2006/main">
            <a:r>
              <a:t>- docs/当前实现范围与后续开发.md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server/src/main/resources/db/oracle-migration/V1__platform_schema.sql</a:t>
            </a:r>
          </a:p>
          <a:p xmlns:a="http://schemas.openxmlformats.org/drawingml/2006/main">
            <a:r>
              <a:t>- V3__knowledge_domain.sql</a:t>
            </a:r>
          </a:p>
          <a:p xmlns:a="http://schemas.openxmlformats.org/drawingml/2006/main">
            <a:r>
              <a:t>- QueryOrchestrator.java</a:t>
            </a:r>
          </a:p>
          <a:p xmlns:a="http://schemas.openxmlformats.org/drawingml/2006/main">
            <a:r>
              <a:t>- QueryExportService.java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docs/AI_BI平台系统详细设计说明书_V1.0.docx</a:t>
            </a:r>
          </a:p>
          <a:p xmlns:a="http://schemas.openxmlformats.org/drawingml/2006/main">
            <a:r>
              <a:t>- 目标架构设计（本次评审）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server/src/main/java/com/example/aibi/query/*</a:t>
            </a:r>
          </a:p>
          <a:p xmlns:a="http://schemas.openxmlformats.org/drawingml/2006/main">
            <a:r>
              <a:t>- docs/AI训练中心使用说明.md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server/src/main/java/com/example/aibi/query/QueryOrchestrator.java</a:t>
            </a:r>
          </a:p>
          <a:p xmlns:a="http://schemas.openxmlformats.org/drawingml/2006/main">
            <a:r>
              <a:t>- QueryExportService.java</a:t>
            </a:r>
          </a:p>
          <a:p xmlns:a="http://schemas.openxmlformats.org/drawingml/2006/main">
            <a:r>
              <a:t>- audit/AuditController.java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docs/无外网环境部署指南_Windows与CentOS7.md</a:t>
            </a:r>
          </a:p>
          <a:p xmlns:a="http://schemas.openxmlformats.org/drawingml/2006/main">
            <a:r>
              <a:t>- docs/离线Maven仓库与二次开发说明.md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server/pom.xml</a:t>
            </a:r>
          </a:p>
          <a:p xmlns:a="http://schemas.openxmlformats.org/drawingml/2006/main">
            <a:r>
              <a:t>- web/package.json</a:t>
            </a:r>
          </a:p>
          <a:p xmlns:a="http://schemas.openxmlformats.org/drawingml/2006/main">
            <a:r>
              <a:t>- docs/依赖与工具完整清单.md</a:t>
            </a:r>
          </a:p>
          <a:p xmlns:a="http://schemas.openxmlformats.org/drawingml/2006/main">
            <a:r>
              <a:t>- docs/离线Maven仓库与二次开发说明.md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docs/测试说明.md</a:t>
            </a:r>
          </a:p>
          <a:p xmlns:a="http://schemas.openxmlformats.org/drawingml/2006/main">
            <a:r>
              <a:t>- server/src/test/java/*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docs/当前实现范围与后续开发.md</a:t>
            </a:r>
          </a:p>
          <a:p xmlns:a="http://schemas.openxmlformats.org/drawingml/2006/main">
            <a:r>
              <a:t>- docs/AI_BI平台系统详细设计说明书_V1.0.docx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请审核团队对 P0 控制、试点边界和验收标准形成书面结论。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本次系统设计与安全差距分析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9d57f086d4e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df27521061439d" /><Relationship Type="http://schemas.openxmlformats.org/officeDocument/2006/relationships/slideLayout" Target="/ppt/slideLayouts/slideLayout1.xml" Id="R8763197de8bc47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3197de8bc47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90c0ba91f45ca" /><Relationship Type="http://schemas.openxmlformats.org/officeDocument/2006/relationships/notesSlide" Target="/ppt/notesSlides/notesSlide1.xml" Id="R9ab60ec5ae62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8571758664fa5" /><Relationship Type="http://schemas.openxmlformats.org/officeDocument/2006/relationships/notesSlide" Target="/ppt/notesSlides/notesSlide2.xml" Id="R3937ffbca1ce42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93d7380b94a32" /><Relationship Type="http://schemas.openxmlformats.org/officeDocument/2006/relationships/notesSlide" Target="/ppt/notesSlides/notesSlide3.xml" Id="R50d7f18130984b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cb534070b49d2" /><Relationship Type="http://schemas.openxmlformats.org/officeDocument/2006/relationships/notesSlide" Target="/ppt/notesSlides/notesSlide4.xml" Id="Re0e3f54a25484c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eb74679364887" /><Relationship Type="http://schemas.openxmlformats.org/officeDocument/2006/relationships/notesSlide" Target="/ppt/notesSlides/notesSlide5.xml" Id="Re7f49fcf4397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5c84334c94da8" /><Relationship Type="http://schemas.openxmlformats.org/officeDocument/2006/relationships/notesSlide" Target="/ppt/notesSlides/notesSlide6.xml" Id="R40b1dccbd155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a88daa1bd482e" /><Relationship Type="http://schemas.openxmlformats.org/officeDocument/2006/relationships/image" Target="/ppt/media/image.jpeg" Id="Rf982872b85324809" /><Relationship Type="http://schemas.openxmlformats.org/officeDocument/2006/relationships/notesSlide" Target="/ppt/notesSlides/notesSlide7.xml" Id="Rfef3ffd0213c49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f9828781f4b4b" /><Relationship Type="http://schemas.openxmlformats.org/officeDocument/2006/relationships/image" Target="/ppt/media/image2.jpeg" Id="R8d4dddf2498a4b44" /><Relationship Type="http://schemas.openxmlformats.org/officeDocument/2006/relationships/notesSlide" Target="/ppt/notesSlides/notesSlide8.xml" Id="R326c48bcac0143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c70872f834fd1" /><Relationship Type="http://schemas.openxmlformats.org/officeDocument/2006/relationships/image" Target="/ppt/media/image3.jpeg" Id="Re48b21e07573423d" /><Relationship Type="http://schemas.openxmlformats.org/officeDocument/2006/relationships/notesSlide" Target="/ppt/notesSlides/notesSlide9.xml" Id="R93e3fe05a7234d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f6088fd654123" /><Relationship Type="http://schemas.openxmlformats.org/officeDocument/2006/relationships/image" Target="/ppt/media/image4.jpeg" Id="Red61574afbc348bb" /><Relationship Type="http://schemas.openxmlformats.org/officeDocument/2006/relationships/notesSlide" Target="/ppt/notesSlides/notesSlide10.xml" Id="Raafb51599d7745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6ccfb49d54547" /><Relationship Type="http://schemas.openxmlformats.org/officeDocument/2006/relationships/image" Target="/ppt/media/image5.jpeg" Id="R1c6f04bd72e545f6" /><Relationship Type="http://schemas.openxmlformats.org/officeDocument/2006/relationships/notesSlide" Target="/ppt/notesSlides/notesSlide11.xml" Id="Rdcf1e291ad7243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2e996aa9046de" /><Relationship Type="http://schemas.openxmlformats.org/officeDocument/2006/relationships/notesSlide" Target="/ppt/notesSlides/notesSlide12.xml" Id="R8d688c11ef8f4f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2f163b4bd4d55" /><Relationship Type="http://schemas.openxmlformats.org/officeDocument/2006/relationships/notesSlide" Target="/ppt/notesSlides/notesSlide13.xml" Id="R76d700ec838640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1c15b97344b38" /><Relationship Type="http://schemas.openxmlformats.org/officeDocument/2006/relationships/notesSlide" Target="/ppt/notesSlides/notesSlide14.xml" Id="Rbaadbcdcf4fa4e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2f71ba9b24ac6" /><Relationship Type="http://schemas.openxmlformats.org/officeDocument/2006/relationships/notesSlide" Target="/ppt/notesSlides/notesSlide15.xml" Id="R9cc2204dd95f4c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85c14bdfe4b3c" /><Relationship Type="http://schemas.openxmlformats.org/officeDocument/2006/relationships/notesSlide" Target="/ppt/notesSlides/notesSlide16.xml" Id="Reaced3ae557a43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a540f56e24048" /><Relationship Type="http://schemas.openxmlformats.org/officeDocument/2006/relationships/notesSlide" Target="/ppt/notesSlides/notesSlide17.xml" Id="R478adf9e4e9d45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dee3df8924208" /><Relationship Type="http://schemas.openxmlformats.org/officeDocument/2006/relationships/notesSlide" Target="/ppt/notesSlides/notesSlide18.xml" Id="R4dcd24f5e30141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cf4034ff44c9b" /><Relationship Type="http://schemas.openxmlformats.org/officeDocument/2006/relationships/notesSlide" Target="/ppt/notesSlides/notesSlide19.xml" Id="R7fbcae1b76a748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fce98c6d04959" /><Relationship Type="http://schemas.openxmlformats.org/officeDocument/2006/relationships/notesSlide" Target="/ppt/notesSlides/notesSlide20.xml" Id="R8eb9ad5368f742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7d36f91274dd6" /><Relationship Type="http://schemas.openxmlformats.org/officeDocument/2006/relationships/notesSlide" Target="/ppt/notesSlides/notesSlide21.xml" Id="R8407ed37efd74d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ewbk7fp">
            <a:extLst xmlns:a="http://schemas.openxmlformats.org/drawingml/2006/main">
              <a:ext uri="{FF2B5EF4-FFF2-40B4-BE49-F238E27FC236}">
                <a16:creationId xmlns:a16="http://schemas.microsoft.com/office/drawing/2014/main" id="{76AF61CA-849C-4245-853F-8EA50AEC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PRODUCT / SECURITY REVIEW</a:t>
            </a:r>
          </a:p>
        </p:txBody>
      </p:sp>
      <p:sp>
        <p:nvSpPr>
          <p:cNvPr id="2" name="text-hvlee0l">
            <a:extLst xmlns:a="http://schemas.openxmlformats.org/drawingml/2006/main">
              <a:ext uri="{FF2B5EF4-FFF2-40B4-BE49-F238E27FC236}">
                <a16:creationId xmlns:a16="http://schemas.microsoft.com/office/drawing/2014/main" id="{B0E1D66B-BBEB-4E32-BD94-9AD57C0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企业级 AI BI</a:t>
            </a:r>
          </a:p>
          <a:p xmlns:a="http://schemas.openxmlformats.org/drawingml/2006/main">
            <a:pPr algn="l">
              <a:defRPr sz="43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与受控 NL2SQL 平台</a:t>
            </a:r>
          </a:p>
        </p:txBody>
      </p:sp>
      <p:sp>
        <p:nvSpPr>
          <p:cNvPr id="3" name="text-r8gdq6l">
            <a:extLst xmlns:a="http://schemas.openxmlformats.org/drawingml/2006/main">
              <a:ext uri="{FF2B5EF4-FFF2-40B4-BE49-F238E27FC236}">
                <a16:creationId xmlns:a16="http://schemas.microsoft.com/office/drawing/2014/main" id="{6248161E-F9F6-40FD-83B7-D6E66B25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433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让模型负责理解，让确定性系统负责授权、校验、执行与审计</a:t>
            </a:r>
          </a:p>
        </p:txBody>
      </p:sp>
      <p:sp>
        <p:nvSpPr>
          <p:cNvPr id="4" name="shape-rqkdxgg">
            <a:extLst xmlns:a="http://schemas.openxmlformats.org/drawingml/2006/main">
              <a:ext uri="{FF2B5EF4-FFF2-40B4-BE49-F238E27FC236}">
                <a16:creationId xmlns:a16="http://schemas.microsoft.com/office/drawing/2014/main" id="{2D38042C-B42D-4963-9698-DC2ED1AA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6250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5" name="text-kvdyu6l">
            <a:extLst xmlns:a="http://schemas.openxmlformats.org/drawingml/2006/main">
              <a:ext uri="{FF2B5EF4-FFF2-40B4-BE49-F238E27FC236}">
                <a16:creationId xmlns:a16="http://schemas.microsoft.com/office/drawing/2014/main" id="{54D9EA1D-2023-4505-AFBE-0130CEBB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Vue 3 · Spring Boot · Oracle 19c · Qdrant · 可插拔内网模型</a:t>
            </a:r>
          </a:p>
        </p:txBody>
      </p:sp>
      <p:sp>
        <p:nvSpPr>
          <p:cNvPr id="6" name="text-cl49cca">
            <a:extLst xmlns:a="http://schemas.openxmlformats.org/drawingml/2006/main">
              <a:ext uri="{FF2B5EF4-FFF2-40B4-BE49-F238E27FC236}">
                <a16:creationId xmlns:a16="http://schemas.microsoft.com/office/drawing/2014/main" id="{E5D48105-0183-42A0-8E4E-2359EF4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95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审核团队评审材料  |  V1.0  |  2026-08-17</a:t>
            </a:r>
          </a:p>
        </p:txBody>
      </p:sp>
      <p:sp>
        <p:nvSpPr>
          <p:cNvPr id="7" name="shape-g1ta5ma">
            <a:extLst xmlns:a="http://schemas.openxmlformats.org/drawingml/2006/main">
              <a:ext uri="{FF2B5EF4-FFF2-40B4-BE49-F238E27FC236}">
                <a16:creationId xmlns:a16="http://schemas.microsoft.com/office/drawing/2014/main" id="{48DC01C7-1D4B-4D84-A8AE-D31EA9C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09625"/>
            <a:ext cx="3714750" cy="45720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shape-3bjnsh7">
            <a:extLst xmlns:a="http://schemas.openxmlformats.org/drawingml/2006/main">
              <a:ext uri="{FF2B5EF4-FFF2-40B4-BE49-F238E27FC236}">
                <a16:creationId xmlns:a16="http://schemas.microsoft.com/office/drawing/2014/main" id="{F4DA156B-9C94-4C58-AB5B-4174A3B4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76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5zh78ci">
            <a:extLst xmlns:a="http://schemas.openxmlformats.org/drawingml/2006/main">
              <a:ext uri="{FF2B5EF4-FFF2-40B4-BE49-F238E27FC236}">
                <a16:creationId xmlns:a16="http://schemas.microsoft.com/office/drawing/2014/main" id="{CFBE2397-006C-4DDB-A628-2354359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906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自然语言问题</a:t>
            </a:r>
          </a:p>
        </p:txBody>
      </p:sp>
      <p:sp>
        <p:nvSpPr>
          <p:cNvPr id="10" name="shape-o49xwge">
            <a:extLst xmlns:a="http://schemas.openxmlformats.org/drawingml/2006/main">
              <a:ext uri="{FF2B5EF4-FFF2-40B4-BE49-F238E27FC236}">
                <a16:creationId xmlns:a16="http://schemas.microsoft.com/office/drawing/2014/main" id="{A54B7761-5AF6-422C-9CB8-DB58F84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3238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shape-e0g7595">
            <a:extLst xmlns:a="http://schemas.openxmlformats.org/drawingml/2006/main">
              <a:ext uri="{FF2B5EF4-FFF2-40B4-BE49-F238E27FC236}">
                <a16:creationId xmlns:a16="http://schemas.microsoft.com/office/drawing/2014/main" id="{97A0C508-ABCC-46A3-8BA4-13286C6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762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text-ldnjhjx">
            <a:extLst xmlns:a="http://schemas.openxmlformats.org/drawingml/2006/main">
              <a:ext uri="{FF2B5EF4-FFF2-40B4-BE49-F238E27FC236}">
                <a16:creationId xmlns:a16="http://schemas.microsoft.com/office/drawing/2014/main" id="{1D31EE05-F800-4CB5-97C5-67BAB302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受控 AI 编排</a:t>
            </a:r>
          </a:p>
        </p:txBody>
      </p:sp>
      <p:sp>
        <p:nvSpPr>
          <p:cNvPr id="13" name="text-4wapo33">
            <a:extLst xmlns:a="http://schemas.openxmlformats.org/drawingml/2006/main">
              <a:ext uri="{FF2B5EF4-FFF2-40B4-BE49-F238E27FC236}">
                <a16:creationId xmlns:a16="http://schemas.microsoft.com/office/drawing/2014/main" id="{2F7DE1D0-B0BC-4405-9D01-37B2FD6E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语义 · RAG · SQL 门禁</a:t>
            </a:r>
          </a:p>
        </p:txBody>
      </p:sp>
      <p:sp>
        <p:nvSpPr>
          <p:cNvPr id="14" name="shape-uzl55yu">
            <a:extLst xmlns:a="http://schemas.openxmlformats.org/drawingml/2006/main">
              <a:ext uri="{FF2B5EF4-FFF2-40B4-BE49-F238E27FC236}">
                <a16:creationId xmlns:a16="http://schemas.microsoft.com/office/drawing/2014/main" id="{9E0316B3-15F2-4A43-8A6F-20375742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57625"/>
            <a:ext cx="3238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shape-lvtzgj3">
            <a:extLst xmlns:a="http://schemas.openxmlformats.org/drawingml/2006/main">
              <a:ext uri="{FF2B5EF4-FFF2-40B4-BE49-F238E27FC236}">
                <a16:creationId xmlns:a16="http://schemas.microsoft.com/office/drawing/2014/main" id="{B1EE603D-E74D-4DB3-B7A3-A6638F15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76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6" name="text-b6g2k2y">
            <a:extLst xmlns:a="http://schemas.openxmlformats.org/drawingml/2006/main">
              <a:ext uri="{FF2B5EF4-FFF2-40B4-BE49-F238E27FC236}">
                <a16:creationId xmlns:a16="http://schemas.microsoft.com/office/drawing/2014/main" id="{7E25C5A2-1E97-45CC-94C7-6CF99A2D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43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可信数据答案</a:t>
            </a:r>
          </a:p>
        </p:txBody>
      </p:sp>
      <p:sp>
        <p:nvSpPr>
          <p:cNvPr id="17" name="text-hcbb44z">
            <a:extLst xmlns:a="http://schemas.openxmlformats.org/drawingml/2006/main">
              <a:ext uri="{FF2B5EF4-FFF2-40B4-BE49-F238E27FC236}">
                <a16:creationId xmlns:a16="http://schemas.microsoft.com/office/drawing/2014/main" id="{CEF753FC-C27E-48D4-A49C-FF283A9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Enterprise AI BI Platform</a:t>
            </a:r>
          </a:p>
        </p:txBody>
      </p:sp>
      <p:sp>
        <p:nvSpPr>
          <p:cNvPr id="18" name="text-cgbhelh">
            <a:extLst xmlns:a="http://schemas.openxmlformats.org/drawingml/2006/main">
              <a:ext uri="{FF2B5EF4-FFF2-40B4-BE49-F238E27FC236}">
                <a16:creationId xmlns:a16="http://schemas.microsoft.com/office/drawing/2014/main" id="{7DF4A2B2-CA98-4439-9951-7246F9E0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5460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bogulzo">
            <a:extLst xmlns:a="http://schemas.openxmlformats.org/drawingml/2006/main">
              <a:ext uri="{FF2B5EF4-FFF2-40B4-BE49-F238E27FC236}">
                <a16:creationId xmlns:a16="http://schemas.microsoft.com/office/drawing/2014/main" id="{35492137-869F-4E2E-B1DF-6ED04EB0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安全与架构评审</a:t>
            </a:r>
          </a:p>
        </p:txBody>
      </p:sp>
      <p:sp>
        <p:nvSpPr>
          <p:cNvPr id="2" name="text-18ux8g4">
            <a:extLst xmlns:a="http://schemas.openxmlformats.org/drawingml/2006/main">
              <a:ext uri="{FF2B5EF4-FFF2-40B4-BE49-F238E27FC236}">
                <a16:creationId xmlns:a16="http://schemas.microsoft.com/office/drawing/2014/main" id="{DED1F4D0-2010-474C-A9F7-450D698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核心设计：模型是规划者，不是数据库权限主体</a:t>
            </a:r>
          </a:p>
        </p:txBody>
      </p:sp>
      <p:sp>
        <p:nvSpPr>
          <p:cNvPr id="3" name="shape-l5pw6qt">
            <a:extLst xmlns:a="http://schemas.openxmlformats.org/drawingml/2006/main">
              <a:ext uri="{FF2B5EF4-FFF2-40B4-BE49-F238E27FC236}">
                <a16:creationId xmlns:a16="http://schemas.microsoft.com/office/drawing/2014/main" id="{188D4CA4-BFA0-4A63-A21B-3EEFDA91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dflv1x9">
            <a:extLst xmlns:a="http://schemas.openxmlformats.org/drawingml/2006/main">
              <a:ext uri="{FF2B5EF4-FFF2-40B4-BE49-F238E27FC236}">
                <a16:creationId xmlns:a16="http://schemas.microsoft.com/office/drawing/2014/main" id="{FF7BFAB8-55FA-449E-825D-BBD9DE49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wean8t5">
            <a:extLst xmlns:a="http://schemas.openxmlformats.org/drawingml/2006/main">
              <a:ext uri="{FF2B5EF4-FFF2-40B4-BE49-F238E27FC236}">
                <a16:creationId xmlns:a16="http://schemas.microsoft.com/office/drawing/2014/main" id="{0C236A5C-B0AE-41D5-8924-060C5504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hj5m4s0">
            <a:extLst xmlns:a="http://schemas.openxmlformats.org/drawingml/2006/main">
              <a:ext uri="{FF2B5EF4-FFF2-40B4-BE49-F238E27FC236}">
                <a16:creationId xmlns:a16="http://schemas.microsoft.com/office/drawing/2014/main" id="{ECDBFB26-9DC0-4809-8D8E-500137B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平台把不可预测的模型输出放进可验证、可拒绝、可追溯的确定性链路。</a:t>
            </a:r>
          </a:p>
        </p:txBody>
      </p:sp>
      <p:sp>
        <p:nvSpPr>
          <p:cNvPr id="7" name="text-wqyblk3">
            <a:extLst xmlns:a="http://schemas.openxmlformats.org/drawingml/2006/main">
              <a:ext uri="{FF2B5EF4-FFF2-40B4-BE49-F238E27FC236}">
                <a16:creationId xmlns:a16="http://schemas.microsoft.com/office/drawing/2014/main" id="{E37C19F4-F26F-4FAD-82B3-228AD977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72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4xbgc13">
            <a:extLst xmlns:a="http://schemas.openxmlformats.org/drawingml/2006/main">
              <a:ext uri="{FF2B5EF4-FFF2-40B4-BE49-F238E27FC236}">
                <a16:creationId xmlns:a16="http://schemas.microsoft.com/office/drawing/2014/main" id="{E2A49D9D-B7E4-4BB1-A2C2-509A9E9B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语义先行</a:t>
            </a:r>
          </a:p>
        </p:txBody>
      </p:sp>
      <p:sp>
        <p:nvSpPr>
          <p:cNvPr id="9" name="text-bmn7v52">
            <a:extLst xmlns:a="http://schemas.openxmlformats.org/drawingml/2006/main">
              <a:ext uri="{FF2B5EF4-FFF2-40B4-BE49-F238E27FC236}">
                <a16:creationId xmlns:a16="http://schemas.microsoft.com/office/drawing/2014/main" id="{7306A483-A89C-4CEB-A7EA-6F177530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指标、关系、同义词和标准 SQL 先被治理，再进入生成上下文。</a:t>
            </a:r>
          </a:p>
        </p:txBody>
      </p:sp>
      <p:sp>
        <p:nvSpPr>
          <p:cNvPr id="10" name="text-0k7p8ik">
            <a:extLst xmlns:a="http://schemas.openxmlformats.org/drawingml/2006/main">
              <a:ext uri="{FF2B5EF4-FFF2-40B4-BE49-F238E27FC236}">
                <a16:creationId xmlns:a16="http://schemas.microsoft.com/office/drawing/2014/main" id="{101170CC-FE7B-47A7-A264-495CD23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72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lq19ojq">
            <a:extLst xmlns:a="http://schemas.openxmlformats.org/drawingml/2006/main">
              <a:ext uri="{FF2B5EF4-FFF2-40B4-BE49-F238E27FC236}">
                <a16:creationId xmlns:a16="http://schemas.microsoft.com/office/drawing/2014/main" id="{796EBEB7-18A5-4999-B195-A27912E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权限外置</a:t>
            </a:r>
          </a:p>
        </p:txBody>
      </p:sp>
      <p:sp>
        <p:nvSpPr>
          <p:cNvPr id="12" name="text-yrpmqzd">
            <a:extLst xmlns:a="http://schemas.openxmlformats.org/drawingml/2006/main">
              <a:ext uri="{FF2B5EF4-FFF2-40B4-BE49-F238E27FC236}">
                <a16:creationId xmlns:a16="http://schemas.microsoft.com/office/drawing/2014/main" id="{C4CCE9C4-07B8-41AB-BCD4-10057554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718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模型没有数据库身份；Java 安全边界和只读账号决定可执行范围。</a:t>
            </a:r>
          </a:p>
        </p:txBody>
      </p:sp>
      <p:sp>
        <p:nvSpPr>
          <p:cNvPr id="13" name="text-8v4bbwo">
            <a:extLst xmlns:a="http://schemas.openxmlformats.org/drawingml/2006/main">
              <a:ext uri="{FF2B5EF4-FFF2-40B4-BE49-F238E27FC236}">
                <a16:creationId xmlns:a16="http://schemas.microsoft.com/office/drawing/2014/main" id="{638A9180-B359-45CF-B468-5D0AB41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72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-8s4zats">
            <a:extLst xmlns:a="http://schemas.openxmlformats.org/drawingml/2006/main">
              <a:ext uri="{FF2B5EF4-FFF2-40B4-BE49-F238E27FC236}">
                <a16:creationId xmlns:a16="http://schemas.microsoft.com/office/drawing/2014/main" id="{E5E83376-80BF-4949-BE37-36B53C00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15" name="text-zwk462a">
            <a:extLst xmlns:a="http://schemas.openxmlformats.org/drawingml/2006/main">
              <a:ext uri="{FF2B5EF4-FFF2-40B4-BE49-F238E27FC236}">
                <a16:creationId xmlns:a16="http://schemas.microsoft.com/office/drawing/2014/main" id="{1D97D582-1C52-4B84-89FA-4036BBA9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问题、SQL、数据表、结果快照、反馈、导出和模型版本全链路留痕。</a:t>
            </a:r>
          </a:p>
        </p:txBody>
      </p:sp>
      <p:sp>
        <p:nvSpPr>
          <p:cNvPr id="16" name="text-8oob8s7">
            <a:extLst xmlns:a="http://schemas.openxmlformats.org/drawingml/2006/main">
              <a:ext uri="{FF2B5EF4-FFF2-40B4-BE49-F238E27FC236}">
                <a16:creationId xmlns:a16="http://schemas.microsoft.com/office/drawing/2014/main" id="{47127C0E-B9BE-4B8E-88E0-E7417AE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72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-x98uvv8">
            <a:extLst xmlns:a="http://schemas.openxmlformats.org/drawingml/2006/main">
              <a:ext uri="{FF2B5EF4-FFF2-40B4-BE49-F238E27FC236}">
                <a16:creationId xmlns:a16="http://schemas.microsoft.com/office/drawing/2014/main" id="{628CD2F4-A38B-4615-8995-BAB0DE6A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离线可迁移</a:t>
            </a:r>
          </a:p>
        </p:txBody>
      </p:sp>
      <p:sp>
        <p:nvSpPr>
          <p:cNvPr id="18" name="text-wqsjx4n">
            <a:extLst xmlns:a="http://schemas.openxmlformats.org/drawingml/2006/main">
              <a:ext uri="{FF2B5EF4-FFF2-40B4-BE49-F238E27FC236}">
                <a16:creationId xmlns:a16="http://schemas.microsoft.com/office/drawing/2014/main" id="{D8900675-FBE8-4449-8800-6C592CD3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核心运行不依赖公网，支持 Windows / CentOS 7 与内网模型网关。</a:t>
            </a:r>
          </a:p>
        </p:txBody>
      </p:sp>
    </p:spTree>
    <p:extLst>
      <p:ext uri="{BB962C8B-B14F-4D97-AF65-F5344CB8AC3E}">
        <p14:creationId xmlns:p14="http://schemas.microsoft.com/office/powerpoint/2010/main" val="96301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o5jiv1t">
            <a:extLst xmlns:a="http://schemas.openxmlformats.org/drawingml/2006/main">
              <a:ext uri="{FF2B5EF4-FFF2-40B4-BE49-F238E27FC236}">
                <a16:creationId xmlns:a16="http://schemas.microsoft.com/office/drawing/2014/main" id="{9776E75E-12B7-4BBD-AD11-5C8C782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安全与架构评审</a:t>
            </a:r>
          </a:p>
        </p:txBody>
      </p:sp>
      <p:sp>
        <p:nvSpPr>
          <p:cNvPr id="2" name="text-r2zudyz">
            <a:extLst xmlns:a="http://schemas.openxmlformats.org/drawingml/2006/main">
              <a:ext uri="{FF2B5EF4-FFF2-40B4-BE49-F238E27FC236}">
                <a16:creationId xmlns:a16="http://schemas.microsoft.com/office/drawing/2014/main" id="{D2923FF2-11E0-4443-A486-E9D0B6C8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三类产品能力共享一条可信数据底座</a:t>
            </a:r>
          </a:p>
        </p:txBody>
      </p:sp>
      <p:sp>
        <p:nvSpPr>
          <p:cNvPr id="3" name="shape-xo3p9nv">
            <a:extLst xmlns:a="http://schemas.openxmlformats.org/drawingml/2006/main">
              <a:ext uri="{FF2B5EF4-FFF2-40B4-BE49-F238E27FC236}">
                <a16:creationId xmlns:a16="http://schemas.microsoft.com/office/drawing/2014/main" id="{ADBA3783-D695-42DA-9694-D6E1453A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h6hcx4c">
            <a:extLst xmlns:a="http://schemas.openxmlformats.org/drawingml/2006/main">
              <a:ext uri="{FF2B5EF4-FFF2-40B4-BE49-F238E27FC236}">
                <a16:creationId xmlns:a16="http://schemas.microsoft.com/office/drawing/2014/main" id="{11417735-936A-4298-8AA0-DC5B3DD6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0rkaeig">
            <a:extLst xmlns:a="http://schemas.openxmlformats.org/drawingml/2006/main">
              <a:ext uri="{FF2B5EF4-FFF2-40B4-BE49-F238E27FC236}">
                <a16:creationId xmlns:a16="http://schemas.microsoft.com/office/drawing/2014/main" id="{E33F4D16-0745-47F8-9EBD-BE5A529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shape-vrtfoae">
            <a:extLst xmlns:a="http://schemas.openxmlformats.org/drawingml/2006/main">
              <a:ext uri="{FF2B5EF4-FFF2-40B4-BE49-F238E27FC236}">
                <a16:creationId xmlns:a16="http://schemas.microsoft.com/office/drawing/2014/main" id="{4F7BD728-AF07-4827-886A-6FDF1966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81400" cy="39052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text-mt8co8p">
            <a:extLst xmlns:a="http://schemas.openxmlformats.org/drawingml/2006/main">
              <a:ext uri="{FF2B5EF4-FFF2-40B4-BE49-F238E27FC236}">
                <a16:creationId xmlns:a16="http://schemas.microsoft.com/office/drawing/2014/main" id="{F3DC801C-516C-492D-9A45-08B8B3C3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9juumis">
            <a:extLst xmlns:a="http://schemas.openxmlformats.org/drawingml/2006/main">
              <a:ext uri="{FF2B5EF4-FFF2-40B4-BE49-F238E27FC236}">
                <a16:creationId xmlns:a16="http://schemas.microsoft.com/office/drawing/2014/main" id="{D4050CF7-731E-433B-9D58-480ADF30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数据问答</a:t>
            </a:r>
          </a:p>
        </p:txBody>
      </p:sp>
      <p:sp>
        <p:nvSpPr>
          <p:cNvPr id="9" name="text-klnolbu">
            <a:extLst xmlns:a="http://schemas.openxmlformats.org/drawingml/2006/main">
              <a:ext uri="{FF2B5EF4-FFF2-40B4-BE49-F238E27FC236}">
                <a16:creationId xmlns:a16="http://schemas.microsoft.com/office/drawing/2014/main" id="{392D7054-B9D2-4A96-8692-D245134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自然语言提问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表格与 ECharts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可审计 SQL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反馈后下载 XLSX / CSV / XML</a:t>
            </a:r>
          </a:p>
        </p:txBody>
      </p:sp>
      <p:sp>
        <p:nvSpPr>
          <p:cNvPr id="10" name="shape-d8uciyx">
            <a:extLst xmlns:a="http://schemas.openxmlformats.org/drawingml/2006/main">
              <a:ext uri="{FF2B5EF4-FFF2-40B4-BE49-F238E27FC236}">
                <a16:creationId xmlns:a16="http://schemas.microsoft.com/office/drawing/2014/main" id="{31CED2D2-6C1E-4538-B25E-1F30C01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39052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11" name="text-4ma1u89">
            <a:extLst xmlns:a="http://schemas.openxmlformats.org/drawingml/2006/main">
              <a:ext uri="{FF2B5EF4-FFF2-40B4-BE49-F238E27FC236}">
                <a16:creationId xmlns:a16="http://schemas.microsoft.com/office/drawing/2014/main" id="{F0A60DD7-BF9D-4568-A63B-A231C71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-d65dwlj">
            <a:extLst xmlns:a="http://schemas.openxmlformats.org/drawingml/2006/main">
              <a:ext uri="{FF2B5EF4-FFF2-40B4-BE49-F238E27FC236}">
                <a16:creationId xmlns:a16="http://schemas.microsoft.com/office/drawing/2014/main" id="{D1193C97-A2D4-475B-9F43-03A53E3F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智能报告</a:t>
            </a:r>
          </a:p>
        </p:txBody>
      </p:sp>
      <p:sp>
        <p:nvSpPr>
          <p:cNvPr id="13" name="text-0yo6dkn">
            <a:extLst xmlns:a="http://schemas.openxmlformats.org/drawingml/2006/main">
              <a:ext uri="{FF2B5EF4-FFF2-40B4-BE49-F238E27FC236}">
                <a16:creationId xmlns:a16="http://schemas.microsoft.com/office/drawing/2014/main" id="{8827D985-D462-4E8E-ABC8-DE15FCF2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多查询编排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章节化结论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SQL 与结果证据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报告历史与行动建议</a:t>
            </a:r>
          </a:p>
        </p:txBody>
      </p:sp>
      <p:sp>
        <p:nvSpPr>
          <p:cNvPr id="14" name="shape-ltvywl0">
            <a:extLst xmlns:a="http://schemas.openxmlformats.org/drawingml/2006/main">
              <a:ext uri="{FF2B5EF4-FFF2-40B4-BE49-F238E27FC236}">
                <a16:creationId xmlns:a16="http://schemas.microsoft.com/office/drawing/2014/main" id="{2B77DA17-FF71-464B-BF33-50399EE7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81400" cy="39052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5" name="text-s5aufrz">
            <a:extLst xmlns:a="http://schemas.openxmlformats.org/drawingml/2006/main">
              <a:ext uri="{FF2B5EF4-FFF2-40B4-BE49-F238E27FC236}">
                <a16:creationId xmlns:a16="http://schemas.microsoft.com/office/drawing/2014/main" id="{315E691E-BCBC-451F-9197-B07C3E5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-xve2qvd">
            <a:extLst xmlns:a="http://schemas.openxmlformats.org/drawingml/2006/main">
              <a:ext uri="{FF2B5EF4-FFF2-40B4-BE49-F238E27FC236}">
                <a16:creationId xmlns:a16="http://schemas.microsoft.com/office/drawing/2014/main" id="{45BB920B-A49D-4AF8-89B6-0FD5E73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AI 训练中心</a:t>
            </a:r>
          </a:p>
        </p:txBody>
      </p:sp>
      <p:sp>
        <p:nvSpPr>
          <p:cNvPr id="17" name="text-ckga8le">
            <a:extLst xmlns:a="http://schemas.openxmlformats.org/drawingml/2006/main">
              <a:ext uri="{FF2B5EF4-FFF2-40B4-BE49-F238E27FC236}">
                <a16:creationId xmlns:a16="http://schemas.microsoft.com/office/drawing/2014/main" id="{6C5A9AA9-9701-41F8-BBB9-3F4CF838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242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文档 / DDL / 指标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关系 / 同义词 / 标准 SQL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黄金问题评测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模型与向量索引切换</a:t>
            </a:r>
          </a:p>
        </p:txBody>
      </p:sp>
    </p:spTree>
    <p:extLst>
      <p:ext uri="{BB962C8B-B14F-4D97-AF65-F5344CB8AC3E}">
        <p14:creationId xmlns:p14="http://schemas.microsoft.com/office/powerpoint/2010/main" val="809942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ava8yhv">
            <a:extLst xmlns:a="http://schemas.openxmlformats.org/drawingml/2006/main">
              <a:ext uri="{FF2B5EF4-FFF2-40B4-BE49-F238E27FC236}">
                <a16:creationId xmlns:a16="http://schemas.microsoft.com/office/drawing/2014/main" id="{150431C3-2DFC-4281-AC8C-220A30C0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2" name="text-25wzrl6">
            <a:extLst xmlns:a="http://schemas.openxmlformats.org/drawingml/2006/main">
              <a:ext uri="{FF2B5EF4-FFF2-40B4-BE49-F238E27FC236}">
                <a16:creationId xmlns:a16="http://schemas.microsoft.com/office/drawing/2014/main" id="{7BA17120-D552-41C2-8DCF-549E38D5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整体架构把体验、业务、AI、知识与数据解耦</a:t>
            </a:r>
          </a:p>
        </p:txBody>
      </p:sp>
      <p:sp>
        <p:nvSpPr>
          <p:cNvPr id="3" name="shape-kwyl6wl">
            <a:extLst xmlns:a="http://schemas.openxmlformats.org/drawingml/2006/main">
              <a:ext uri="{FF2B5EF4-FFF2-40B4-BE49-F238E27FC236}">
                <a16:creationId xmlns:a16="http://schemas.microsoft.com/office/drawing/2014/main" id="{7A13D59B-9399-457C-B909-A3C61293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ex0icvn">
            <a:extLst xmlns:a="http://schemas.openxmlformats.org/drawingml/2006/main">
              <a:ext uri="{FF2B5EF4-FFF2-40B4-BE49-F238E27FC236}">
                <a16:creationId xmlns:a16="http://schemas.microsoft.com/office/drawing/2014/main" id="{B3538EE2-4A0B-4874-B1AC-74E05E07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7u8xizi">
            <a:extLst xmlns:a="http://schemas.openxmlformats.org/drawingml/2006/main">
              <a:ext uri="{FF2B5EF4-FFF2-40B4-BE49-F238E27FC236}">
                <a16:creationId xmlns:a16="http://schemas.microsoft.com/office/drawing/2014/main" id="{9C1B18CB-A3FB-452D-AA31-24C6C9FE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hape-hv6c6c1">
            <a:extLst xmlns:a="http://schemas.openxmlformats.org/drawingml/2006/main">
              <a:ext uri="{FF2B5EF4-FFF2-40B4-BE49-F238E27FC236}">
                <a16:creationId xmlns:a16="http://schemas.microsoft.com/office/drawing/2014/main" id="{E4B5FADE-94E1-4365-BE38-63A86331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text-ehhqbfu">
            <a:extLst xmlns:a="http://schemas.openxmlformats.org/drawingml/2006/main">
              <a:ext uri="{FF2B5EF4-FFF2-40B4-BE49-F238E27FC236}">
                <a16:creationId xmlns:a16="http://schemas.microsoft.com/office/drawing/2014/main" id="{2915A4F8-3F4D-45D2-8071-7E9B574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8" name="text-m9b7lri">
            <a:extLst xmlns:a="http://schemas.openxmlformats.org/drawingml/2006/main">
              <a:ext uri="{FF2B5EF4-FFF2-40B4-BE49-F238E27FC236}">
                <a16:creationId xmlns:a16="http://schemas.microsoft.com/office/drawing/2014/main" id="{DAA5F0A0-BD45-4517-8B5B-9ADB065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Vue 3 · Router · Pinia · Element Plus · ECharts</a:t>
            </a:r>
          </a:p>
        </p:txBody>
      </p:sp>
      <p:sp>
        <p:nvSpPr>
          <p:cNvPr id="9" name="shape-farwstp">
            <a:extLst xmlns:a="http://schemas.openxmlformats.org/drawingml/2006/main">
              <a:ext uri="{FF2B5EF4-FFF2-40B4-BE49-F238E27FC236}">
                <a16:creationId xmlns:a16="http://schemas.microsoft.com/office/drawing/2014/main" id="{CD49DB25-1BD9-4A3A-99A4-8020138D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10" name="text-rq9atql">
            <a:extLst xmlns:a="http://schemas.openxmlformats.org/drawingml/2006/main">
              <a:ext uri="{FF2B5EF4-FFF2-40B4-BE49-F238E27FC236}">
                <a16:creationId xmlns:a16="http://schemas.microsoft.com/office/drawing/2014/main" id="{552BEB13-E521-41C7-A564-C23AEC4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业务安全层</a:t>
            </a:r>
          </a:p>
        </p:txBody>
      </p:sp>
      <p:sp>
        <p:nvSpPr>
          <p:cNvPr id="11" name="text-863mlzy">
            <a:extLst xmlns:a="http://schemas.openxmlformats.org/drawingml/2006/main">
              <a:ext uri="{FF2B5EF4-FFF2-40B4-BE49-F238E27FC236}">
                <a16:creationId xmlns:a16="http://schemas.microsoft.com/office/drawing/2014/main" id="{62946958-9AFD-4116-9A0D-9B84CF69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Spring Security · RBAC · Auth · Query · Report · Export · Audit</a:t>
            </a:r>
          </a:p>
        </p:txBody>
      </p:sp>
      <p:sp>
        <p:nvSpPr>
          <p:cNvPr id="12" name="shape-0ltaok9">
            <a:extLst xmlns:a="http://schemas.openxmlformats.org/drawingml/2006/main">
              <a:ext uri="{FF2B5EF4-FFF2-40B4-BE49-F238E27FC236}">
                <a16:creationId xmlns:a16="http://schemas.microsoft.com/office/drawing/2014/main" id="{A7FD30FD-A394-4D8E-A8B5-86FFCDB1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3" name="text-agq9d7k">
            <a:extLst xmlns:a="http://schemas.openxmlformats.org/drawingml/2006/main">
              <a:ext uri="{FF2B5EF4-FFF2-40B4-BE49-F238E27FC236}">
                <a16:creationId xmlns:a16="http://schemas.microsoft.com/office/drawing/2014/main" id="{804C936E-FFC8-4DF5-BD27-22875478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受控 AI 层</a:t>
            </a:r>
          </a:p>
        </p:txBody>
      </p:sp>
      <p:sp>
        <p:nvSpPr>
          <p:cNvPr id="14" name="text-53ppmfz">
            <a:extLst xmlns:a="http://schemas.openxmlformats.org/drawingml/2006/main">
              <a:ext uri="{FF2B5EF4-FFF2-40B4-BE49-F238E27FC236}">
                <a16:creationId xmlns:a16="http://schemas.microsoft.com/office/drawing/2014/main" id="{BFA21FA2-9D7F-429A-9889-41B6C017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Model Router · Prompt Factory · Standard SQL · SQLGuard · Executor</a:t>
            </a:r>
          </a:p>
        </p:txBody>
      </p:sp>
      <p:sp>
        <p:nvSpPr>
          <p:cNvPr id="15" name="shape-22ys97s">
            <a:extLst xmlns:a="http://schemas.openxmlformats.org/drawingml/2006/main">
              <a:ext uri="{FF2B5EF4-FFF2-40B4-BE49-F238E27FC236}">
                <a16:creationId xmlns:a16="http://schemas.microsoft.com/office/drawing/2014/main" id="{3DF440E6-5B26-4285-94CE-80BCAEE3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text-mt5kt8q">
            <a:extLst xmlns:a="http://schemas.openxmlformats.org/drawingml/2006/main">
              <a:ext uri="{FF2B5EF4-FFF2-40B4-BE49-F238E27FC236}">
                <a16:creationId xmlns:a16="http://schemas.microsoft.com/office/drawing/2014/main" id="{77265A58-9570-4014-889F-AC1D9F84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知识语义层</a:t>
            </a:r>
          </a:p>
        </p:txBody>
      </p:sp>
      <p:sp>
        <p:nvSpPr>
          <p:cNvPr id="17" name="text-9hst7fe">
            <a:extLst xmlns:a="http://schemas.openxmlformats.org/drawingml/2006/main">
              <a:ext uri="{FF2B5EF4-FFF2-40B4-BE49-F238E27FC236}">
                <a16:creationId xmlns:a16="http://schemas.microsoft.com/office/drawing/2014/main" id="{1A76BE6A-6E34-4A5A-BA95-19647E1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Tika · Embedding · Qdrant · Metrics · Relations · Synonyms · Golden Set</a:t>
            </a:r>
          </a:p>
        </p:txBody>
      </p:sp>
      <p:sp>
        <p:nvSpPr>
          <p:cNvPr id="18" name="shape-z0bautw">
            <a:extLst xmlns:a="http://schemas.openxmlformats.org/drawingml/2006/main">
              <a:ext uri="{FF2B5EF4-FFF2-40B4-BE49-F238E27FC236}">
                <a16:creationId xmlns:a16="http://schemas.microsoft.com/office/drawing/2014/main" id="{41017905-4785-482B-8548-5DCC33A2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9" name="text-dqhwlb0">
            <a:extLst xmlns:a="http://schemas.openxmlformats.org/drawingml/2006/main">
              <a:ext uri="{FF2B5EF4-FFF2-40B4-BE49-F238E27FC236}">
                <a16:creationId xmlns:a16="http://schemas.microsoft.com/office/drawing/2014/main" id="{33CF83AE-92DC-4431-9830-BDCB1F5F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数据基础层</a:t>
            </a:r>
          </a:p>
        </p:txBody>
      </p:sp>
      <p:sp>
        <p:nvSpPr>
          <p:cNvPr id="20" name="text-xb73e4j">
            <a:extLst xmlns:a="http://schemas.openxmlformats.org/drawingml/2006/main">
              <a:ext uri="{FF2B5EF4-FFF2-40B4-BE49-F238E27FC236}">
                <a16:creationId xmlns:a16="http://schemas.microsoft.com/office/drawing/2014/main" id="{350847E9-9C02-47CA-AD86-C35F46B7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Oracle 19c · 文件存储 · Flyway · Actuator · 内网模型网关</a:t>
            </a:r>
          </a:p>
        </p:txBody>
      </p:sp>
      <p:sp>
        <p:nvSpPr>
          <p:cNvPr id="21" name="text-21h6b19">
            <a:extLst xmlns:a="http://schemas.openxmlformats.org/drawingml/2006/main">
              <a:ext uri="{FF2B5EF4-FFF2-40B4-BE49-F238E27FC236}">
                <a16:creationId xmlns:a16="http://schemas.microsoft.com/office/drawing/2014/main" id="{6B59E58C-ED02-4C9C-98CD-707A75A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76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所有架构层均为 PowerPoint 原生形状，可直接编辑</a:t>
            </a:r>
          </a:p>
        </p:txBody>
      </p:sp>
    </p:spTree>
    <p:extLst>
      <p:ext uri="{BB962C8B-B14F-4D97-AF65-F5344CB8AC3E}">
        <p14:creationId xmlns:p14="http://schemas.microsoft.com/office/powerpoint/2010/main" val="235748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ext-t3wyfm1">
            <a:extLst xmlns:a="http://schemas.openxmlformats.org/drawingml/2006/main">
              <a:ext uri="{FF2B5EF4-FFF2-40B4-BE49-F238E27FC236}">
                <a16:creationId xmlns:a16="http://schemas.microsoft.com/office/drawing/2014/main" id="{24B069C8-260A-4201-A20F-55479017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 NL2SQL</a:t>
            </a:r>
          </a:p>
        </p:txBody>
      </p:sp>
      <p:sp>
        <p:nvSpPr>
          <p:cNvPr id="2" name="text-gpz2p1r">
            <a:extLst xmlns:a="http://schemas.openxmlformats.org/drawingml/2006/main">
              <a:ext uri="{FF2B5EF4-FFF2-40B4-BE49-F238E27FC236}">
                <a16:creationId xmlns:a16="http://schemas.microsoft.com/office/drawing/2014/main" id="{B4BE99F6-3761-4B78-965E-1DCA3564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每次问答都经过 8 个可审计控制点</a:t>
            </a:r>
          </a:p>
        </p:txBody>
      </p:sp>
      <p:sp>
        <p:nvSpPr>
          <p:cNvPr id="3" name="shape-ogjvqu2">
            <a:extLst xmlns:a="http://schemas.openxmlformats.org/drawingml/2006/main">
              <a:ext uri="{FF2B5EF4-FFF2-40B4-BE49-F238E27FC236}">
                <a16:creationId xmlns:a16="http://schemas.microsoft.com/office/drawing/2014/main" id="{7A81191C-FB51-4B86-A5A7-F631C1D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vgj7nrr">
            <a:extLst xmlns:a="http://schemas.openxmlformats.org/drawingml/2006/main">
              <a:ext uri="{FF2B5EF4-FFF2-40B4-BE49-F238E27FC236}">
                <a16:creationId xmlns:a16="http://schemas.microsoft.com/office/drawing/2014/main" id="{6EABF06D-9576-467E-8483-205D857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sh9oeq2">
            <a:extLst xmlns:a="http://schemas.openxmlformats.org/drawingml/2006/main">
              <a:ext uri="{FF2B5EF4-FFF2-40B4-BE49-F238E27FC236}">
                <a16:creationId xmlns:a16="http://schemas.microsoft.com/office/drawing/2014/main" id="{D137111F-09EA-40C6-AFE2-FEFB57D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shape-mcp9kbu">
            <a:extLst xmlns:a="http://schemas.openxmlformats.org/drawingml/2006/main">
              <a:ext uri="{FF2B5EF4-FFF2-40B4-BE49-F238E27FC236}">
                <a16:creationId xmlns:a16="http://schemas.microsoft.com/office/drawing/2014/main" id="{0AA30ECE-E861-4BA8-8646-3849CD6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23812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shape-c3w9d38">
            <a:extLst xmlns:a="http://schemas.openxmlformats.org/drawingml/2006/main">
              <a:ext uri="{FF2B5EF4-FFF2-40B4-BE49-F238E27FC236}">
                <a16:creationId xmlns:a16="http://schemas.microsoft.com/office/drawing/2014/main" id="{ECA86DB4-D224-456A-8479-6928328F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-pktnahw">
            <a:extLst xmlns:a="http://schemas.openxmlformats.org/drawingml/2006/main">
              <a:ext uri="{FF2B5EF4-FFF2-40B4-BE49-F238E27FC236}">
                <a16:creationId xmlns:a16="http://schemas.microsoft.com/office/drawing/2014/main" id="{760DC8E0-55D4-4D67-9867-349229D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-tyecron">
            <a:extLst xmlns:a="http://schemas.openxmlformats.org/drawingml/2006/main">
              <a:ext uri="{FF2B5EF4-FFF2-40B4-BE49-F238E27FC236}">
                <a16:creationId xmlns:a16="http://schemas.microsoft.com/office/drawing/2014/main" id="{735978B0-46B1-4061-9AAD-64FBFA7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text-z0u3bik">
            <a:extLst xmlns:a="http://schemas.openxmlformats.org/drawingml/2006/main">
              <a:ext uri="{FF2B5EF4-FFF2-40B4-BE49-F238E27FC236}">
                <a16:creationId xmlns:a16="http://schemas.microsoft.com/office/drawing/2014/main" id="{0FE8782E-D95C-4FB5-A556-69FA0646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5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 + domain</a:t>
            </a:r>
          </a:p>
        </p:txBody>
      </p:sp>
      <p:sp>
        <p:nvSpPr>
          <p:cNvPr id="11" name="shape-etkgzir">
            <a:extLst xmlns:a="http://schemas.openxmlformats.org/drawingml/2006/main">
              <a:ext uri="{FF2B5EF4-FFF2-40B4-BE49-F238E27FC236}">
                <a16:creationId xmlns:a16="http://schemas.microsoft.com/office/drawing/2014/main" id="{EB3FFC47-E8AD-400E-9E43-C36238C1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19400"/>
            <a:ext cx="23812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shape-kf06ku3">
            <a:extLst xmlns:a="http://schemas.openxmlformats.org/drawingml/2006/main">
              <a:ext uri="{FF2B5EF4-FFF2-40B4-BE49-F238E27FC236}">
                <a16:creationId xmlns:a16="http://schemas.microsoft.com/office/drawing/2014/main" id="{E5DFE2D2-459B-4B15-B874-E3FB7407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19dqq23">
            <a:extLst xmlns:a="http://schemas.openxmlformats.org/drawingml/2006/main">
              <a:ext uri="{FF2B5EF4-FFF2-40B4-BE49-F238E27FC236}">
                <a16:creationId xmlns:a16="http://schemas.microsoft.com/office/drawing/2014/main" id="{092DF8A8-1ABD-41EA-BA8D-C4040794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-ggg4kzo">
            <a:extLst xmlns:a="http://schemas.openxmlformats.org/drawingml/2006/main">
              <a:ext uri="{FF2B5EF4-FFF2-40B4-BE49-F238E27FC236}">
                <a16:creationId xmlns:a16="http://schemas.microsoft.com/office/drawing/2014/main" id="{BC3355F8-B7F3-4325-A8E4-C0E42064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5" name="text-w1dpgb0">
            <a:extLst xmlns:a="http://schemas.openxmlformats.org/drawingml/2006/main">
              <a:ext uri="{FF2B5EF4-FFF2-40B4-BE49-F238E27FC236}">
                <a16:creationId xmlns:a16="http://schemas.microsoft.com/office/drawing/2014/main" id="{74195206-29AE-4782-A907-6C8C19AD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TopK 文档</a:t>
            </a:r>
          </a:p>
        </p:txBody>
      </p:sp>
      <p:sp>
        <p:nvSpPr>
          <p:cNvPr id="16" name="shape-x8q4dt7">
            <a:extLst xmlns:a="http://schemas.openxmlformats.org/drawingml/2006/main">
              <a:ext uri="{FF2B5EF4-FFF2-40B4-BE49-F238E27FC236}">
                <a16:creationId xmlns:a16="http://schemas.microsoft.com/office/drawing/2014/main" id="{F96CF7A9-BE5C-403E-BE35-2295A5E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23812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shape-40o8ort">
            <a:extLst xmlns:a="http://schemas.openxmlformats.org/drawingml/2006/main">
              <a:ext uri="{FF2B5EF4-FFF2-40B4-BE49-F238E27FC236}">
                <a16:creationId xmlns:a16="http://schemas.microsoft.com/office/drawing/2014/main" id="{04F8EB25-844F-417B-B2DB-A1DC329B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-rxy2nv7">
            <a:extLst xmlns:a="http://schemas.openxmlformats.org/drawingml/2006/main">
              <a:ext uri="{FF2B5EF4-FFF2-40B4-BE49-F238E27FC236}">
                <a16:creationId xmlns:a16="http://schemas.microsoft.com/office/drawing/2014/main" id="{613F24C0-5903-48A8-BE40-41F5514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oufvwvu">
            <a:extLst xmlns:a="http://schemas.openxmlformats.org/drawingml/2006/main">
              <a:ext uri="{FF2B5EF4-FFF2-40B4-BE49-F238E27FC236}">
                <a16:creationId xmlns:a16="http://schemas.microsoft.com/office/drawing/2014/main" id="{E59E7B4C-E730-4766-976D-4E3A986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语义</a:t>
            </a:r>
          </a:p>
        </p:txBody>
      </p:sp>
      <p:sp>
        <p:nvSpPr>
          <p:cNvPr id="20" name="text-c29yf7d">
            <a:extLst xmlns:a="http://schemas.openxmlformats.org/drawingml/2006/main">
              <a:ext uri="{FF2B5EF4-FFF2-40B4-BE49-F238E27FC236}">
                <a16:creationId xmlns:a16="http://schemas.microsoft.com/office/drawing/2014/main" id="{A217F1EB-5CCA-4407-A3E3-FE5B5B9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 + 关系</a:t>
            </a:r>
          </a:p>
        </p:txBody>
      </p:sp>
      <p:sp>
        <p:nvSpPr>
          <p:cNvPr id="21" name="shape-2mr43hp">
            <a:extLst xmlns:a="http://schemas.openxmlformats.org/drawingml/2006/main">
              <a:ext uri="{FF2B5EF4-FFF2-40B4-BE49-F238E27FC236}">
                <a16:creationId xmlns:a16="http://schemas.microsoft.com/office/drawing/2014/main" id="{4AA7C0BB-51A9-4A72-B22F-C338E774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19400"/>
            <a:ext cx="23812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2" name="shape-c04c996">
            <a:extLst xmlns:a="http://schemas.openxmlformats.org/drawingml/2006/main">
              <a:ext uri="{FF2B5EF4-FFF2-40B4-BE49-F238E27FC236}">
                <a16:creationId xmlns:a16="http://schemas.microsoft.com/office/drawing/2014/main" id="{F8D12504-ABB9-44A5-882D-36CD8FC9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-bs3a4dv">
            <a:extLst xmlns:a="http://schemas.openxmlformats.org/drawingml/2006/main">
              <a:ext uri="{FF2B5EF4-FFF2-40B4-BE49-F238E27FC236}">
                <a16:creationId xmlns:a16="http://schemas.microsoft.com/office/drawing/2014/main" id="{28691592-1CA5-4F75-B0F0-994453E5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-5wfgy9b">
            <a:extLst xmlns:a="http://schemas.openxmlformats.org/drawingml/2006/main">
              <a:ext uri="{FF2B5EF4-FFF2-40B4-BE49-F238E27FC236}">
                <a16:creationId xmlns:a16="http://schemas.microsoft.com/office/drawing/2014/main" id="{FAD21AAF-7264-45A8-926A-F03C4E45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5" name="text-vqxarmy">
            <a:extLst xmlns:a="http://schemas.openxmlformats.org/drawingml/2006/main">
              <a:ext uri="{FF2B5EF4-FFF2-40B4-BE49-F238E27FC236}">
                <a16:creationId xmlns:a16="http://schemas.microsoft.com/office/drawing/2014/main" id="{9848560E-A2AB-443E-8538-0901EEB6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标准 SQL</a:t>
            </a:r>
          </a:p>
        </p:txBody>
      </p:sp>
      <p:sp>
        <p:nvSpPr>
          <p:cNvPr id="26" name="shape-nxjjtgx">
            <a:extLst xmlns:a="http://schemas.openxmlformats.org/drawingml/2006/main">
              <a:ext uri="{FF2B5EF4-FFF2-40B4-BE49-F238E27FC236}">
                <a16:creationId xmlns:a16="http://schemas.microsoft.com/office/drawing/2014/main" id="{313E7A42-7D96-445E-A545-C0C5FB37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23812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shape-ioamh36">
            <a:extLst xmlns:a="http://schemas.openxmlformats.org/drawingml/2006/main">
              <a:ext uri="{FF2B5EF4-FFF2-40B4-BE49-F238E27FC236}">
                <a16:creationId xmlns:a16="http://schemas.microsoft.com/office/drawing/2014/main" id="{2B11B17A-7C81-4C55-A201-AE3D80B7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text-nzhea4r">
            <a:extLst xmlns:a="http://schemas.openxmlformats.org/drawingml/2006/main">
              <a:ext uri="{FF2B5EF4-FFF2-40B4-BE49-F238E27FC236}">
                <a16:creationId xmlns:a16="http://schemas.microsoft.com/office/drawing/2014/main" id="{42935030-736E-4943-BD12-21BED516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-fmzil1k">
            <a:extLst xmlns:a="http://schemas.openxmlformats.org/drawingml/2006/main">
              <a:ext uri="{FF2B5EF4-FFF2-40B4-BE49-F238E27FC236}">
                <a16:creationId xmlns:a16="http://schemas.microsoft.com/office/drawing/2014/main" id="{ADE9AB36-F657-4303-8153-3D8FFC02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30" name="text-rkeufsi">
            <a:extLst xmlns:a="http://schemas.openxmlformats.org/drawingml/2006/main">
              <a:ext uri="{FF2B5EF4-FFF2-40B4-BE49-F238E27FC236}">
                <a16:creationId xmlns:a16="http://schemas.microsoft.com/office/drawing/2014/main" id="{11749CAB-EE81-40B5-AA30-E1E27E4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严格 JSON</a:t>
            </a:r>
          </a:p>
        </p:txBody>
      </p:sp>
      <p:sp>
        <p:nvSpPr>
          <p:cNvPr id="31" name="shape-padmcfl">
            <a:extLst xmlns:a="http://schemas.openxmlformats.org/drawingml/2006/main">
              <a:ext uri="{FF2B5EF4-FFF2-40B4-BE49-F238E27FC236}">
                <a16:creationId xmlns:a16="http://schemas.microsoft.com/office/drawing/2014/main" id="{889E7767-AD93-4D26-B3B6-7D314A0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19400"/>
            <a:ext cx="23812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shape-2lvf3fx">
            <a:extLst xmlns:a="http://schemas.openxmlformats.org/drawingml/2006/main">
              <a:ext uri="{FF2B5EF4-FFF2-40B4-BE49-F238E27FC236}">
                <a16:creationId xmlns:a16="http://schemas.microsoft.com/office/drawing/2014/main" id="{971DBFB1-64FE-4AF1-9890-AC9AB8B7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33" name="text-ufvnz0z">
            <a:extLst xmlns:a="http://schemas.openxmlformats.org/drawingml/2006/main">
              <a:ext uri="{FF2B5EF4-FFF2-40B4-BE49-F238E27FC236}">
                <a16:creationId xmlns:a16="http://schemas.microsoft.com/office/drawing/2014/main" id="{CA93A07A-3F66-4502-971E-E76D26A2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text-09jkwqd">
            <a:extLst xmlns:a="http://schemas.openxmlformats.org/drawingml/2006/main">
              <a:ext uri="{FF2B5EF4-FFF2-40B4-BE49-F238E27FC236}">
                <a16:creationId xmlns:a16="http://schemas.microsoft.com/office/drawing/2014/main" id="{4EBD302C-D977-409C-94BA-33EDF448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SQL 门禁</a:t>
            </a:r>
          </a:p>
        </p:txBody>
      </p:sp>
      <p:sp>
        <p:nvSpPr>
          <p:cNvPr id="35" name="text-v2thtac">
            <a:extLst xmlns:a="http://schemas.openxmlformats.org/drawingml/2006/main">
              <a:ext uri="{FF2B5EF4-FFF2-40B4-BE49-F238E27FC236}">
                <a16:creationId xmlns:a16="http://schemas.microsoft.com/office/drawing/2014/main" id="{CCFCA913-95C4-43CC-BF10-D112B39A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只读/白名单</a:t>
            </a:r>
          </a:p>
        </p:txBody>
      </p:sp>
      <p:sp>
        <p:nvSpPr>
          <p:cNvPr id="36" name="shape-6r54skd">
            <a:extLst xmlns:a="http://schemas.openxmlformats.org/drawingml/2006/main">
              <a:ext uri="{FF2B5EF4-FFF2-40B4-BE49-F238E27FC236}">
                <a16:creationId xmlns:a16="http://schemas.microsoft.com/office/drawing/2014/main" id="{86CC7DE7-1BA2-4EEC-B88B-7A81DABD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19400"/>
            <a:ext cx="238125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7" name="shape-4nyb9eq">
            <a:extLst xmlns:a="http://schemas.openxmlformats.org/drawingml/2006/main">
              <a:ext uri="{FF2B5EF4-FFF2-40B4-BE49-F238E27FC236}">
                <a16:creationId xmlns:a16="http://schemas.microsoft.com/office/drawing/2014/main" id="{2A7916B4-326D-486B-8A7A-FEC5859D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38" name="text-42nuzpl">
            <a:extLst xmlns:a="http://schemas.openxmlformats.org/drawingml/2006/main">
              <a:ext uri="{FF2B5EF4-FFF2-40B4-BE49-F238E27FC236}">
                <a16:creationId xmlns:a16="http://schemas.microsoft.com/office/drawing/2014/main" id="{9468B074-CC07-41A0-888A-3D72B47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9" name="text-n8evbta">
            <a:extLst xmlns:a="http://schemas.openxmlformats.org/drawingml/2006/main">
              <a:ext uri="{FF2B5EF4-FFF2-40B4-BE49-F238E27FC236}">
                <a16:creationId xmlns:a16="http://schemas.microsoft.com/office/drawing/2014/main" id="{0FC728D8-04A3-4307-8BCF-46824D8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Oracle</a:t>
            </a:r>
          </a:p>
        </p:txBody>
      </p:sp>
      <p:sp>
        <p:nvSpPr>
          <p:cNvPr id="40" name="text-wmqmewi">
            <a:extLst xmlns:a="http://schemas.openxmlformats.org/drawingml/2006/main">
              <a:ext uri="{FF2B5EF4-FFF2-40B4-BE49-F238E27FC236}">
                <a16:creationId xmlns:a16="http://schemas.microsoft.com/office/drawing/2014/main" id="{D60287E1-7B02-4CF1-9B2C-C9E7B22F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超时/行数</a:t>
            </a:r>
          </a:p>
        </p:txBody>
      </p:sp>
      <p:sp>
        <p:nvSpPr>
          <p:cNvPr id="41" name="shape-4jg5sx9">
            <a:extLst xmlns:a="http://schemas.openxmlformats.org/drawingml/2006/main">
              <a:ext uri="{FF2B5EF4-FFF2-40B4-BE49-F238E27FC236}">
                <a16:creationId xmlns:a16="http://schemas.microsoft.com/office/drawing/2014/main" id="{EF6F201A-5A08-40CE-8A85-795ACD7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81250"/>
            <a:ext cx="1066800" cy="11239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42" name="text-it5xw3y">
            <a:extLst xmlns:a="http://schemas.openxmlformats.org/drawingml/2006/main">
              <a:ext uri="{FF2B5EF4-FFF2-40B4-BE49-F238E27FC236}">
                <a16:creationId xmlns:a16="http://schemas.microsoft.com/office/drawing/2014/main" id="{9396D6C4-8D23-4EB8-8014-B8D00B44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51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3" name="text-rceq7x3">
            <a:extLst xmlns:a="http://schemas.openxmlformats.org/drawingml/2006/main">
              <a:ext uri="{FF2B5EF4-FFF2-40B4-BE49-F238E27FC236}">
                <a16:creationId xmlns:a16="http://schemas.microsoft.com/office/drawing/2014/main" id="{6B17EF30-0875-4C30-A57F-8C06069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838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4" name="text-depu7zd">
            <a:extLst xmlns:a="http://schemas.openxmlformats.org/drawingml/2006/main">
              <a:ext uri="{FF2B5EF4-FFF2-40B4-BE49-F238E27FC236}">
                <a16:creationId xmlns:a16="http://schemas.microsoft.com/office/drawing/2014/main" id="{DE1B4211-D96F-43BC-AE55-5750AB7A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004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快照/反馈</a:t>
            </a:r>
          </a:p>
        </p:txBody>
      </p:sp>
      <p:sp>
        <p:nvSpPr>
          <p:cNvPr id="45" name="shape-kimsw3a">
            <a:extLst xmlns:a="http://schemas.openxmlformats.org/drawingml/2006/main">
              <a:ext uri="{FF2B5EF4-FFF2-40B4-BE49-F238E27FC236}">
                <a16:creationId xmlns:a16="http://schemas.microsoft.com/office/drawing/2014/main" id="{7E354021-AB5C-43EA-A698-BDB70E8F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46" name="text-i38vlu9">
            <a:extLst xmlns:a="http://schemas.openxmlformats.org/drawingml/2006/main">
              <a:ext uri="{FF2B5EF4-FFF2-40B4-BE49-F238E27FC236}">
                <a16:creationId xmlns:a16="http://schemas.microsoft.com/office/drawing/2014/main" id="{476E2D16-7E94-412B-B823-E915AA28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确定性控制</a:t>
            </a:r>
          </a:p>
        </p:txBody>
      </p:sp>
      <p:sp>
        <p:nvSpPr>
          <p:cNvPr id="47" name="text-k5nc0v5">
            <a:extLst xmlns:a="http://schemas.openxmlformats.org/drawingml/2006/main">
              <a:ext uri="{FF2B5EF4-FFF2-40B4-BE49-F238E27FC236}">
                <a16:creationId xmlns:a16="http://schemas.microsoft.com/office/drawing/2014/main" id="{94B97C8C-D6DA-427F-9C95-C97A526E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JSqlParser 单语句 / SELECT / CTE 校验</a:t>
            </a:r>
          </a:p>
          <a:p xmlns:a="http://schemas.openxmlformats.org/drawingml/2006/main">
            <a:pPr algn="l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对象白名单 · 危险函数拒绝 · 最大 1,000 行 · 15 秒超时</a:t>
            </a:r>
          </a:p>
        </p:txBody>
      </p:sp>
      <p:sp>
        <p:nvSpPr>
          <p:cNvPr id="48" name="shape-19xmqyc">
            <a:extLst xmlns:a="http://schemas.openxmlformats.org/drawingml/2006/main">
              <a:ext uri="{FF2B5EF4-FFF2-40B4-BE49-F238E27FC236}">
                <a16:creationId xmlns:a16="http://schemas.microsoft.com/office/drawing/2014/main" id="{555766EF-E9A7-486E-9896-CAF898A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9" name="text-v2o8gtk">
            <a:extLst xmlns:a="http://schemas.openxmlformats.org/drawingml/2006/main">
              <a:ext uri="{FF2B5EF4-FFF2-40B4-BE49-F238E27FC236}">
                <a16:creationId xmlns:a16="http://schemas.microsoft.com/office/drawing/2014/main" id="{7382912D-9E4B-41D2-BB8F-00355CC7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准确率控制</a:t>
            </a:r>
          </a:p>
        </p:txBody>
      </p:sp>
      <p:sp>
        <p:nvSpPr>
          <p:cNvPr id="50" name="text-mhk77sb">
            <a:extLst xmlns:a="http://schemas.openxmlformats.org/drawingml/2006/main">
              <a:ext uri="{FF2B5EF4-FFF2-40B4-BE49-F238E27FC236}">
                <a16:creationId xmlns:a16="http://schemas.microsoft.com/office/drawing/2014/main" id="{1EC3F702-E3B9-44AB-83C2-5DA5F129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0.90 相似度标准 SQL 直达</a:t>
            </a:r>
          </a:p>
          <a:p xmlns:a="http://schemas.openxmlformats.org/drawingml/2006/main">
            <a:pPr algn="l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指标口径 · Join 基数 · 同义词 · RAG · 黄金问题回归</a:t>
            </a:r>
          </a:p>
        </p:txBody>
      </p:sp>
    </p:spTree>
    <p:extLst>
      <p:ext uri="{BB962C8B-B14F-4D97-AF65-F5344CB8AC3E}">
        <p14:creationId xmlns:p14="http://schemas.microsoft.com/office/powerpoint/2010/main" val="1164556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iw70z25">
            <a:extLst xmlns:a="http://schemas.openxmlformats.org/drawingml/2006/main">
              <a:ext uri="{FF2B5EF4-FFF2-40B4-BE49-F238E27FC236}">
                <a16:creationId xmlns:a16="http://schemas.microsoft.com/office/drawing/2014/main" id="{946E3BCD-2575-4507-AE1B-EE64A5A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训练闭环</a:t>
            </a:r>
          </a:p>
        </p:txBody>
      </p:sp>
      <p:sp>
        <p:nvSpPr>
          <p:cNvPr id="2" name="text-nkn27p6">
            <a:extLst xmlns:a="http://schemas.openxmlformats.org/drawingml/2006/main">
              <a:ext uri="{FF2B5EF4-FFF2-40B4-BE49-F238E27FC236}">
                <a16:creationId xmlns:a16="http://schemas.microsoft.com/office/drawing/2014/main" id="{3C7157D2-662B-4918-9937-2B0AC390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“训练”是知识治理与持续评测，不是在线修改模型权重</a:t>
            </a:r>
          </a:p>
        </p:txBody>
      </p:sp>
      <p:sp>
        <p:nvSpPr>
          <p:cNvPr id="3" name="shape-ledq172">
            <a:extLst xmlns:a="http://schemas.openxmlformats.org/drawingml/2006/main">
              <a:ext uri="{FF2B5EF4-FFF2-40B4-BE49-F238E27FC236}">
                <a16:creationId xmlns:a16="http://schemas.microsoft.com/office/drawing/2014/main" id="{2087271B-B9BE-4BC7-9383-5E0625A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nzr4w1a">
            <a:extLst xmlns:a="http://schemas.openxmlformats.org/drawingml/2006/main">
              <a:ext uri="{FF2B5EF4-FFF2-40B4-BE49-F238E27FC236}">
                <a16:creationId xmlns:a16="http://schemas.microsoft.com/office/drawing/2014/main" id="{C2BB3AB4-A262-4EB0-B33A-7CBC13AD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0rn5umj">
            <a:extLst xmlns:a="http://schemas.openxmlformats.org/drawingml/2006/main">
              <a:ext uri="{FF2B5EF4-FFF2-40B4-BE49-F238E27FC236}">
                <a16:creationId xmlns:a16="http://schemas.microsoft.com/office/drawing/2014/main" id="{4CC48B81-4D45-4AEE-8B60-3D59DE9F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shape-vsiemiq">
            <a:extLst xmlns:a="http://schemas.openxmlformats.org/drawingml/2006/main">
              <a:ext uri="{FF2B5EF4-FFF2-40B4-BE49-F238E27FC236}">
                <a16:creationId xmlns:a16="http://schemas.microsoft.com/office/drawing/2014/main" id="{41B68986-2446-4120-BE23-3510C88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2667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hape-lvztqd5">
            <a:extLst xmlns:a="http://schemas.openxmlformats.org/drawingml/2006/main">
              <a:ext uri="{FF2B5EF4-FFF2-40B4-BE49-F238E27FC236}">
                <a16:creationId xmlns:a16="http://schemas.microsoft.com/office/drawing/2014/main" id="{F63D2905-7176-4D41-9DF0-EE6CF4C5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343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text-2o96dqz">
            <a:extLst xmlns:a="http://schemas.openxmlformats.org/drawingml/2006/main">
              <a:ext uri="{FF2B5EF4-FFF2-40B4-BE49-F238E27FC236}">
                <a16:creationId xmlns:a16="http://schemas.microsoft.com/office/drawing/2014/main" id="{7BA7DA16-F15E-40AB-ABED-EB7BFFA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-m4dy4ak">
            <a:extLst xmlns:a="http://schemas.openxmlformats.org/drawingml/2006/main">
              <a:ext uri="{FF2B5EF4-FFF2-40B4-BE49-F238E27FC236}">
                <a16:creationId xmlns:a16="http://schemas.microsoft.com/office/drawing/2014/main" id="{E84ABDEB-9847-4A56-9DE2-CB739914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导入知识</a:t>
            </a:r>
          </a:p>
        </p:txBody>
      </p:sp>
      <p:sp>
        <p:nvSpPr>
          <p:cNvPr id="10" name="text-snsvvah">
            <a:extLst xmlns:a="http://schemas.openxmlformats.org/drawingml/2006/main">
              <a:ext uri="{FF2B5EF4-FFF2-40B4-BE49-F238E27FC236}">
                <a16:creationId xmlns:a16="http://schemas.microsoft.com/office/drawing/2014/main" id="{D6601D2B-4BBC-465B-8BC6-F3792F85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文档 · DDL · 数据字典</a:t>
            </a:r>
          </a:p>
        </p:txBody>
      </p:sp>
      <p:sp>
        <p:nvSpPr>
          <p:cNvPr id="11" name="shape-ug32hmz">
            <a:extLst xmlns:a="http://schemas.openxmlformats.org/drawingml/2006/main">
              <a:ext uri="{FF2B5EF4-FFF2-40B4-BE49-F238E27FC236}">
                <a16:creationId xmlns:a16="http://schemas.microsoft.com/office/drawing/2014/main" id="{61165335-DAB1-4F8C-AF2B-C4E0CBFC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2667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hape-g1euwa1">
            <a:extLst xmlns:a="http://schemas.openxmlformats.org/drawingml/2006/main">
              <a:ext uri="{FF2B5EF4-FFF2-40B4-BE49-F238E27FC236}">
                <a16:creationId xmlns:a16="http://schemas.microsoft.com/office/drawing/2014/main" id="{251F8073-3DD2-4CC6-8E9D-5EF5802E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343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13" name="text-nignpjb">
            <a:extLst xmlns:a="http://schemas.openxmlformats.org/drawingml/2006/main">
              <a:ext uri="{FF2B5EF4-FFF2-40B4-BE49-F238E27FC236}">
                <a16:creationId xmlns:a16="http://schemas.microsoft.com/office/drawing/2014/main" id="{8D33F1AC-34F9-4DCA-B8A5-01B31A6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-kdtiwnw">
            <a:extLst xmlns:a="http://schemas.openxmlformats.org/drawingml/2006/main">
              <a:ext uri="{FF2B5EF4-FFF2-40B4-BE49-F238E27FC236}">
                <a16:creationId xmlns:a16="http://schemas.microsoft.com/office/drawing/2014/main" id="{51EC2C83-D730-4A48-8A3F-FD434EBD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配置语义</a:t>
            </a:r>
          </a:p>
        </p:txBody>
      </p:sp>
      <p:sp>
        <p:nvSpPr>
          <p:cNvPr id="15" name="text-7kx2pdt">
            <a:extLst xmlns:a="http://schemas.openxmlformats.org/drawingml/2006/main">
              <a:ext uri="{FF2B5EF4-FFF2-40B4-BE49-F238E27FC236}">
                <a16:creationId xmlns:a16="http://schemas.microsoft.com/office/drawing/2014/main" id="{E81C9CC7-FD66-4041-B6EB-F5FE8236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 · 关系 · 同义词</a:t>
            </a:r>
          </a:p>
        </p:txBody>
      </p:sp>
      <p:sp>
        <p:nvSpPr>
          <p:cNvPr id="16" name="shape-9wbkf7t">
            <a:extLst xmlns:a="http://schemas.openxmlformats.org/drawingml/2006/main">
              <a:ext uri="{FF2B5EF4-FFF2-40B4-BE49-F238E27FC236}">
                <a16:creationId xmlns:a16="http://schemas.microsoft.com/office/drawing/2014/main" id="{7F79FBBF-FE1C-4AC9-9D58-C56BC10C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667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shape-sb31dc6">
            <a:extLst xmlns:a="http://schemas.openxmlformats.org/drawingml/2006/main">
              <a:ext uri="{FF2B5EF4-FFF2-40B4-BE49-F238E27FC236}">
                <a16:creationId xmlns:a16="http://schemas.microsoft.com/office/drawing/2014/main" id="{ADD36DBA-3F0D-4E42-A97B-322E59AB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343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8" name="text-rrbs7ba">
            <a:extLst xmlns:a="http://schemas.openxmlformats.org/drawingml/2006/main">
              <a:ext uri="{FF2B5EF4-FFF2-40B4-BE49-F238E27FC236}">
                <a16:creationId xmlns:a16="http://schemas.microsoft.com/office/drawing/2014/main" id="{3750368E-4FEA-40DB-8D75-E2BE2BD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-xvtau13">
            <a:extLst xmlns:a="http://schemas.openxmlformats.org/drawingml/2006/main">
              <a:ext uri="{FF2B5EF4-FFF2-40B4-BE49-F238E27FC236}">
                <a16:creationId xmlns:a16="http://schemas.microsoft.com/office/drawing/2014/main" id="{0E0DE208-9B68-4D90-B599-95E01B91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发布案例</a:t>
            </a:r>
          </a:p>
        </p:txBody>
      </p:sp>
      <p:sp>
        <p:nvSpPr>
          <p:cNvPr id="20" name="text-p319p59">
            <a:extLst xmlns:a="http://schemas.openxmlformats.org/drawingml/2006/main">
              <a:ext uri="{FF2B5EF4-FFF2-40B4-BE49-F238E27FC236}">
                <a16:creationId xmlns:a16="http://schemas.microsoft.com/office/drawing/2014/main" id="{4E602D64-8C8E-4EEF-AB06-3C41C098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标准 SQL · 审批版本</a:t>
            </a:r>
          </a:p>
        </p:txBody>
      </p:sp>
      <p:sp>
        <p:nvSpPr>
          <p:cNvPr id="21" name="shape-60xxe4j">
            <a:extLst xmlns:a="http://schemas.openxmlformats.org/drawingml/2006/main">
              <a:ext uri="{FF2B5EF4-FFF2-40B4-BE49-F238E27FC236}">
                <a16:creationId xmlns:a16="http://schemas.microsoft.com/office/drawing/2014/main" id="{13BB1998-C449-49DE-A768-0B66CB17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343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22" name="text-jnggxbj">
            <a:extLst xmlns:a="http://schemas.openxmlformats.org/drawingml/2006/main">
              <a:ext uri="{FF2B5EF4-FFF2-40B4-BE49-F238E27FC236}">
                <a16:creationId xmlns:a16="http://schemas.microsoft.com/office/drawing/2014/main" id="{EEE0A9BC-863E-4D7D-8CD0-7237AD20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duc9zp6">
            <a:extLst xmlns:a="http://schemas.openxmlformats.org/drawingml/2006/main">
              <a:ext uri="{FF2B5EF4-FFF2-40B4-BE49-F238E27FC236}">
                <a16:creationId xmlns:a16="http://schemas.microsoft.com/office/drawing/2014/main" id="{69097E46-5549-4216-8AB9-779E569B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持续评测</a:t>
            </a:r>
          </a:p>
        </p:txBody>
      </p:sp>
      <p:sp>
        <p:nvSpPr>
          <p:cNvPr id="24" name="text-dyuqjl0">
            <a:extLst xmlns:a="http://schemas.openxmlformats.org/drawingml/2006/main">
              <a:ext uri="{FF2B5EF4-FFF2-40B4-BE49-F238E27FC236}">
                <a16:creationId xmlns:a16="http://schemas.microsoft.com/office/drawing/2014/main" id="{D4906E6B-C7C9-4CE5-A12B-90EF75AC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黄金问题 · 攻击问题</a:t>
            </a:r>
          </a:p>
        </p:txBody>
      </p:sp>
      <p:sp>
        <p:nvSpPr>
          <p:cNvPr id="25" name="shape-tts759d">
            <a:extLst xmlns:a="http://schemas.openxmlformats.org/drawingml/2006/main">
              <a:ext uri="{FF2B5EF4-FFF2-40B4-BE49-F238E27FC236}">
                <a16:creationId xmlns:a16="http://schemas.microsoft.com/office/drawing/2014/main" id="{92C05010-7E05-4F1B-A404-95AD72B9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text-04i7xhk">
            <a:extLst xmlns:a="http://schemas.openxmlformats.org/drawingml/2006/main">
              <a:ext uri="{FF2B5EF4-FFF2-40B4-BE49-F238E27FC236}">
                <a16:creationId xmlns:a16="http://schemas.microsoft.com/office/drawing/2014/main" id="{FECBD85B-98C9-46EB-8DC3-C9405B99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27" name="text-kifb149">
            <a:extLst xmlns:a="http://schemas.openxmlformats.org/drawingml/2006/main">
              <a:ext uri="{FF2B5EF4-FFF2-40B4-BE49-F238E27FC236}">
                <a16:creationId xmlns:a16="http://schemas.microsoft.com/office/drawing/2014/main" id="{DC91EF5F-9DFF-4A86-A604-90255E3B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434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负向反馈 → 草稿案例 → 数据 Owner 复核 → 发布新版本 → 黄金集回归</a:t>
            </a:r>
          </a:p>
        </p:txBody>
      </p:sp>
      <p:sp>
        <p:nvSpPr>
          <p:cNvPr id="28" name="text-2l94m3p">
            <a:extLst xmlns:a="http://schemas.openxmlformats.org/drawingml/2006/main">
              <a:ext uri="{FF2B5EF4-FFF2-40B4-BE49-F238E27FC236}">
                <a16:creationId xmlns:a16="http://schemas.microsoft.com/office/drawing/2014/main" id="{E4B818CC-C6C2-405F-ACCC-B69B5E9C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不允许用户修正 SQL 直接进入生产知识</a:t>
            </a:r>
          </a:p>
        </p:txBody>
      </p:sp>
    </p:spTree>
    <p:extLst>
      <p:ext uri="{BB962C8B-B14F-4D97-AF65-F5344CB8AC3E}">
        <p14:creationId xmlns:p14="http://schemas.microsoft.com/office/powerpoint/2010/main" val="1151554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7fnm61">
            <a:extLst xmlns:a="http://schemas.openxmlformats.org/drawingml/2006/main">
              <a:ext uri="{FF2B5EF4-FFF2-40B4-BE49-F238E27FC236}">
                <a16:creationId xmlns:a16="http://schemas.microsoft.com/office/drawing/2014/main" id="{668E163C-465A-4F45-8F43-14160119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产品界面 / 身份</a:t>
            </a:r>
          </a:p>
        </p:txBody>
      </p:sp>
      <p:sp>
        <p:nvSpPr>
          <p:cNvPr id="2" name="text-zk40zty">
            <a:extLst xmlns:a="http://schemas.openxmlformats.org/drawingml/2006/main">
              <a:ext uri="{FF2B5EF4-FFF2-40B4-BE49-F238E27FC236}">
                <a16:creationId xmlns:a16="http://schemas.microsoft.com/office/drawing/2014/main" id="{6106AB94-B107-4799-B21D-6F9EE9D5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登录入口明确产品边界，权限由服务端统一裁决</a:t>
            </a:r>
          </a:p>
        </p:txBody>
      </p:sp>
      <p:sp>
        <p:nvSpPr>
          <p:cNvPr id="3" name="shape-9ckgvro">
            <a:extLst xmlns:a="http://schemas.openxmlformats.org/drawingml/2006/main">
              <a:ext uri="{FF2B5EF4-FFF2-40B4-BE49-F238E27FC236}">
                <a16:creationId xmlns:a16="http://schemas.microsoft.com/office/drawing/2014/main" id="{206553C5-7DD3-4F62-BE69-41F11037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ky9w6ep">
            <a:extLst xmlns:a="http://schemas.openxmlformats.org/drawingml/2006/main">
              <a:ext uri="{FF2B5EF4-FFF2-40B4-BE49-F238E27FC236}">
                <a16:creationId xmlns:a16="http://schemas.microsoft.com/office/drawing/2014/main" id="{BED76695-C800-414F-B917-826AC15A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tvw3v2s">
            <a:extLst xmlns:a="http://schemas.openxmlformats.org/drawingml/2006/main">
              <a:ext uri="{FF2B5EF4-FFF2-40B4-BE49-F238E27FC236}">
                <a16:creationId xmlns:a16="http://schemas.microsoft.com/office/drawing/2014/main" id="{EF541A89-E741-4729-B6E1-E28CCA37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shape-xb9hbyi">
            <a:extLst xmlns:a="http://schemas.openxmlformats.org/drawingml/2006/main">
              <a:ext uri="{FF2B5EF4-FFF2-40B4-BE49-F238E27FC236}">
                <a16:creationId xmlns:a16="http://schemas.microsoft.com/office/drawing/2014/main" id="{801299DD-2BCA-4BD8-A609-E98350E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62100"/>
            <a:ext cx="79248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2872b85324809"/>
          <a:stretch xmlns:a="http://schemas.openxmlformats.org/drawingml/2006/main"/>
        </p:blipFill>
        <p:spPr>
          <a:xfrm xmlns:a="http://schemas.openxmlformats.org/drawingml/2006/main">
            <a:off x="410633" y="1619250"/>
            <a:ext cx="7789333" cy="4381500"/>
          </a:xfrm>
          <a:prstGeom xmlns:a="http://schemas.openxmlformats.org/drawingml/2006/main" prst="roundRect">
            <a:avLst>
              <a:gd name="adj" fmla="val 1739"/>
            </a:avLst>
          </a:prstGeom>
        </p:spPr>
      </p:pic>
      <p:sp>
        <p:nvSpPr>
          <p:cNvPr id="8" name="text-f2iooi0">
            <a:extLst xmlns:a="http://schemas.openxmlformats.org/drawingml/2006/main">
              <a:ext uri="{FF2B5EF4-FFF2-40B4-BE49-F238E27FC236}">
                <a16:creationId xmlns:a16="http://schemas.microsoft.com/office/drawing/2014/main" id="{517E4B57-1E6A-4579-99DC-6A260F01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9" name="text-hv3j11k">
            <a:extLst xmlns:a="http://schemas.openxmlformats.org/drawingml/2006/main">
              <a:ext uri="{FF2B5EF4-FFF2-40B4-BE49-F238E27FC236}">
                <a16:creationId xmlns:a16="http://schemas.microsoft.com/office/drawing/2014/main" id="{117B2C77-9649-4C96-971C-8E4F4D5F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76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BCrypt 密码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256-bit 随机 Token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数据库仅存 SHA-256 摘要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会话可过期、注销、禁用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三类服务端权限</a:t>
            </a:r>
          </a:p>
        </p:txBody>
      </p:sp>
      <p:sp>
        <p:nvSpPr>
          <p:cNvPr id="10" name="text-d0vjfcj">
            <a:extLst xmlns:a="http://schemas.openxmlformats.org/drawingml/2006/main">
              <a:ext uri="{FF2B5EF4-FFF2-40B4-BE49-F238E27FC236}">
                <a16:creationId xmlns:a16="http://schemas.microsoft.com/office/drawing/2014/main" id="{7A0378D2-754A-4CAA-B978-A5BDAA4A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95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生产增强</a:t>
            </a:r>
          </a:p>
        </p:txBody>
      </p:sp>
      <p:sp>
        <p:nvSpPr>
          <p:cNvPr id="11" name="text-p4mdtov">
            <a:extLst xmlns:a="http://schemas.openxmlformats.org/drawingml/2006/main">
              <a:ext uri="{FF2B5EF4-FFF2-40B4-BE49-F238E27FC236}">
                <a16:creationId xmlns:a16="http://schemas.microsoft.com/office/drawing/2014/main" id="{2F244085-62DE-4469-B127-29A7996C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SSO / OIDC · MFA</a:t>
            </a:r>
          </a:p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账号生命周期 · 短时会话</a:t>
            </a:r>
          </a:p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敏感操作双人复核</a:t>
            </a:r>
          </a:p>
        </p:txBody>
      </p:sp>
    </p:spTree>
    <p:extLst>
      <p:ext uri="{BB962C8B-B14F-4D97-AF65-F5344CB8AC3E}">
        <p14:creationId xmlns:p14="http://schemas.microsoft.com/office/powerpoint/2010/main" val="1803695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am29xqi">
            <a:extLst xmlns:a="http://schemas.openxmlformats.org/drawingml/2006/main">
              <a:ext uri="{FF2B5EF4-FFF2-40B4-BE49-F238E27FC236}">
                <a16:creationId xmlns:a16="http://schemas.microsoft.com/office/drawing/2014/main" id="{52031DD0-E3DB-4ABC-8D4E-F2DAF15C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产品界面 / 数据问答</a:t>
            </a:r>
          </a:p>
        </p:txBody>
      </p:sp>
      <p:sp>
        <p:nvSpPr>
          <p:cNvPr id="2" name="text-qz5tulg">
            <a:extLst xmlns:a="http://schemas.openxmlformats.org/drawingml/2006/main">
              <a:ext uri="{FF2B5EF4-FFF2-40B4-BE49-F238E27FC236}">
                <a16:creationId xmlns:a16="http://schemas.microsoft.com/office/drawing/2014/main" id="{D3CB3A56-029E-47EE-9A45-C164ABE4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数据答案同时交付结果、图表、SQL 与执行证据</a:t>
            </a:r>
          </a:p>
        </p:txBody>
      </p:sp>
      <p:sp>
        <p:nvSpPr>
          <p:cNvPr id="3" name="shape-ykou76x">
            <a:extLst xmlns:a="http://schemas.openxmlformats.org/drawingml/2006/main">
              <a:ext uri="{FF2B5EF4-FFF2-40B4-BE49-F238E27FC236}">
                <a16:creationId xmlns:a16="http://schemas.microsoft.com/office/drawing/2014/main" id="{605C653E-4365-4EDC-ADDB-E7BFA161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orbq2kk">
            <a:extLst xmlns:a="http://schemas.openxmlformats.org/drawingml/2006/main">
              <a:ext uri="{FF2B5EF4-FFF2-40B4-BE49-F238E27FC236}">
                <a16:creationId xmlns:a16="http://schemas.microsoft.com/office/drawing/2014/main" id="{82E25C76-C2B4-422D-B0B5-7D677BA7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5d5g7nz">
            <a:extLst xmlns:a="http://schemas.openxmlformats.org/drawingml/2006/main">
              <a:ext uri="{FF2B5EF4-FFF2-40B4-BE49-F238E27FC236}">
                <a16:creationId xmlns:a16="http://schemas.microsoft.com/office/drawing/2014/main" id="{CCE7249B-C541-4ED0-B9BE-6F84889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shape-bycot6z">
            <a:extLst xmlns:a="http://schemas.openxmlformats.org/drawingml/2006/main">
              <a:ext uri="{FF2B5EF4-FFF2-40B4-BE49-F238E27FC236}">
                <a16:creationId xmlns:a16="http://schemas.microsoft.com/office/drawing/2014/main" id="{F807991F-10A9-4614-AD74-FD578092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62100"/>
            <a:ext cx="8734425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dddf2498a4b44"/>
          <a:stretch xmlns:a="http://schemas.openxmlformats.org/drawingml/2006/main"/>
        </p:blipFill>
        <p:spPr>
          <a:xfrm xmlns:a="http://schemas.openxmlformats.org/drawingml/2006/main">
            <a:off x="733224" y="1619250"/>
            <a:ext cx="7953776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8" name="text-oieumc1">
            <a:extLst xmlns:a="http://schemas.openxmlformats.org/drawingml/2006/main">
              <a:ext uri="{FF2B5EF4-FFF2-40B4-BE49-F238E27FC236}">
                <a16:creationId xmlns:a16="http://schemas.microsoft.com/office/drawing/2014/main" id="{652CF964-6EAD-4377-A696-CD1D7280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一次回答的证据包</a:t>
            </a:r>
          </a:p>
        </p:txBody>
      </p:sp>
      <p:sp>
        <p:nvSpPr>
          <p:cNvPr id="9" name="text-o8vmz9w">
            <a:extLst xmlns:a="http://schemas.openxmlformats.org/drawingml/2006/main">
              <a:ext uri="{FF2B5EF4-FFF2-40B4-BE49-F238E27FC236}">
                <a16:creationId xmlns:a16="http://schemas.microsoft.com/office/drawing/2014/main" id="{149E5440-00E8-4D01-815D-658968C4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209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业务结论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结构化结果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可视化图表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可审计 SQL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涉及表集合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置信度 / 模型 / 耗时</a:t>
            </a:r>
          </a:p>
        </p:txBody>
      </p:sp>
      <p:sp>
        <p:nvSpPr>
          <p:cNvPr id="10" name="shape-vab34mj">
            <a:extLst xmlns:a="http://schemas.openxmlformats.org/drawingml/2006/main">
              <a:ext uri="{FF2B5EF4-FFF2-40B4-BE49-F238E27FC236}">
                <a16:creationId xmlns:a16="http://schemas.microsoft.com/office/drawing/2014/main" id="{AEDB44BB-5518-4D6B-9C5E-00D66E39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95875"/>
            <a:ext cx="236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11" name="text-hhfq2ri">
            <a:extLst xmlns:a="http://schemas.openxmlformats.org/drawingml/2006/main">
              <a:ext uri="{FF2B5EF4-FFF2-40B4-BE49-F238E27FC236}">
                <a16:creationId xmlns:a16="http://schemas.microsoft.com/office/drawing/2014/main" id="{93BE9C2B-3A59-4111-A9F2-22A51620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4827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确认正确后</a:t>
            </a:r>
          </a:p>
          <a:p xmlns:a="http://schemas.openxmlformats.org/drawingml/2006/main">
            <a:pPr algn="ctr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才允许下载报表</a:t>
            </a:r>
          </a:p>
        </p:txBody>
      </p:sp>
    </p:spTree>
    <p:extLst>
      <p:ext uri="{BB962C8B-B14F-4D97-AF65-F5344CB8AC3E}">
        <p14:creationId xmlns:p14="http://schemas.microsoft.com/office/powerpoint/2010/main" val="1436902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r1s369m">
            <a:extLst xmlns:a="http://schemas.openxmlformats.org/drawingml/2006/main">
              <a:ext uri="{FF2B5EF4-FFF2-40B4-BE49-F238E27FC236}">
                <a16:creationId xmlns:a16="http://schemas.microsoft.com/office/drawing/2014/main" id="{F2DC7D64-DCC9-44B5-A3B2-D4F0F85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产品界面 / 智能报告</a:t>
            </a:r>
          </a:p>
        </p:txBody>
      </p:sp>
      <p:sp>
        <p:nvSpPr>
          <p:cNvPr id="2" name="text-npbuqqc">
            <a:extLst xmlns:a="http://schemas.openxmlformats.org/drawingml/2006/main">
              <a:ext uri="{FF2B5EF4-FFF2-40B4-BE49-F238E27FC236}">
                <a16:creationId xmlns:a16="http://schemas.microsoft.com/office/drawing/2014/main" id="{40A49265-5007-4EF7-A544-890F4CF8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智能报告复用受控查询，而不是绕过安全边界</a:t>
            </a:r>
          </a:p>
        </p:txBody>
      </p:sp>
      <p:sp>
        <p:nvSpPr>
          <p:cNvPr id="3" name="shape-jt3fj2o">
            <a:extLst xmlns:a="http://schemas.openxmlformats.org/drawingml/2006/main">
              <a:ext uri="{FF2B5EF4-FFF2-40B4-BE49-F238E27FC236}">
                <a16:creationId xmlns:a16="http://schemas.microsoft.com/office/drawing/2014/main" id="{D5D2D7FE-FD8B-4062-8B5F-D27EC189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e17rqsm">
            <a:extLst xmlns:a="http://schemas.openxmlformats.org/drawingml/2006/main">
              <a:ext uri="{FF2B5EF4-FFF2-40B4-BE49-F238E27FC236}">
                <a16:creationId xmlns:a16="http://schemas.microsoft.com/office/drawing/2014/main" id="{FDA35DFE-1BC1-47CF-98CF-B21DECCC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k326ztn">
            <a:extLst xmlns:a="http://schemas.openxmlformats.org/drawingml/2006/main">
              <a:ext uri="{FF2B5EF4-FFF2-40B4-BE49-F238E27FC236}">
                <a16:creationId xmlns:a16="http://schemas.microsoft.com/office/drawing/2014/main" id="{00FFE7BA-A750-4804-B69A-9B53F4F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shape-kk5i026">
            <a:extLst xmlns:a="http://schemas.openxmlformats.org/drawingml/2006/main">
              <a:ext uri="{FF2B5EF4-FFF2-40B4-BE49-F238E27FC236}">
                <a16:creationId xmlns:a16="http://schemas.microsoft.com/office/drawing/2014/main" id="{74BB568C-B364-4803-ABCD-AB8ECBB5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62100"/>
            <a:ext cx="84963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b21e07573423d"/>
          <a:stretch xmlns:a="http://schemas.openxmlformats.org/drawingml/2006/main"/>
        </p:blipFill>
        <p:spPr>
          <a:xfrm xmlns:a="http://schemas.openxmlformats.org/drawingml/2006/main">
            <a:off x="614162" y="1619250"/>
            <a:ext cx="7953776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8" name="text-juabt2h">
            <a:extLst xmlns:a="http://schemas.openxmlformats.org/drawingml/2006/main">
              <a:ext uri="{FF2B5EF4-FFF2-40B4-BE49-F238E27FC236}">
                <a16:creationId xmlns:a16="http://schemas.microsoft.com/office/drawing/2014/main" id="{DC443978-1998-4577-A1B7-B96C5C11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报告编排</a:t>
            </a:r>
          </a:p>
        </p:txBody>
      </p:sp>
      <p:sp>
        <p:nvSpPr>
          <p:cNvPr id="9" name="text-t6o9d2b">
            <a:extLst xmlns:a="http://schemas.openxmlformats.org/drawingml/2006/main">
              <a:ext uri="{FF2B5EF4-FFF2-40B4-BE49-F238E27FC236}">
                <a16:creationId xmlns:a16="http://schemas.microsoft.com/office/drawing/2014/main" id="{9D89D365-DDAD-42BC-B621-72DEB18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28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主题请求</a:t>
            </a:r>
          </a:p>
          <a:p xmlns:a="http://schemas.openxmlformats.org/drawingml/2006/main">
            <a:pPr algn="ctr">
              <a:def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多个受控问题</a:t>
            </a:r>
          </a:p>
          <a:p xmlns:a="http://schemas.openxmlformats.org/drawingml/2006/main">
            <a:pPr algn="ctr">
              <a:def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章节结论 + SQL</a:t>
            </a:r>
          </a:p>
          <a:p xmlns:a="http://schemas.openxmlformats.org/drawingml/2006/main">
            <a:pPr algn="ctr">
              <a:def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def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行动建议 + 历史快照</a:t>
            </a:r>
          </a:p>
        </p:txBody>
      </p:sp>
      <p:sp>
        <p:nvSpPr>
          <p:cNvPr id="10" name="text-ypf3ni1">
            <a:extLst xmlns:a="http://schemas.openxmlformats.org/drawingml/2006/main">
              <a:ext uri="{FF2B5EF4-FFF2-40B4-BE49-F238E27FC236}">
                <a16:creationId xmlns:a16="http://schemas.microsoft.com/office/drawing/2014/main" id="{7E983546-338C-4745-A7C1-176B690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当前为页面报告；PDF / PPTX、编辑与定时分发属于后续增强。</a:t>
            </a:r>
          </a:p>
        </p:txBody>
      </p:sp>
    </p:spTree>
    <p:extLst>
      <p:ext uri="{BB962C8B-B14F-4D97-AF65-F5344CB8AC3E}">
        <p14:creationId xmlns:p14="http://schemas.microsoft.com/office/powerpoint/2010/main" val="805800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xpo4ym">
            <a:extLst xmlns:a="http://schemas.openxmlformats.org/drawingml/2006/main">
              <a:ext uri="{FF2B5EF4-FFF2-40B4-BE49-F238E27FC236}">
                <a16:creationId xmlns:a16="http://schemas.microsoft.com/office/drawing/2014/main" id="{FDD1CDB5-4962-4C4F-941B-B924E684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产品界面 / AI 训练中心</a:t>
            </a:r>
          </a:p>
        </p:txBody>
      </p:sp>
      <p:sp>
        <p:nvSpPr>
          <p:cNvPr id="2" name="text-25ujthl">
            <a:extLst xmlns:a="http://schemas.openxmlformats.org/drawingml/2006/main">
              <a:ext uri="{FF2B5EF4-FFF2-40B4-BE49-F238E27FC236}">
                <a16:creationId xmlns:a16="http://schemas.microsoft.com/office/drawing/2014/main" id="{64085D5E-5BE8-4D56-8442-7616C6A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训练中心把企业知识变成可发布、可评测的 AI 资产</a:t>
            </a:r>
          </a:p>
        </p:txBody>
      </p:sp>
      <p:sp>
        <p:nvSpPr>
          <p:cNvPr id="3" name="shape-ue7ufuo">
            <a:extLst xmlns:a="http://schemas.openxmlformats.org/drawingml/2006/main">
              <a:ext uri="{FF2B5EF4-FFF2-40B4-BE49-F238E27FC236}">
                <a16:creationId xmlns:a16="http://schemas.microsoft.com/office/drawing/2014/main" id="{C97FCDCE-9E4F-4E61-A26D-CB0870C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jlnaqii">
            <a:extLst xmlns:a="http://schemas.openxmlformats.org/drawingml/2006/main">
              <a:ext uri="{FF2B5EF4-FFF2-40B4-BE49-F238E27FC236}">
                <a16:creationId xmlns:a16="http://schemas.microsoft.com/office/drawing/2014/main" id="{9CDE24A1-1217-4BE6-B6B7-4964135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tnckoc2">
            <a:extLst xmlns:a="http://schemas.openxmlformats.org/drawingml/2006/main">
              <a:ext uri="{FF2B5EF4-FFF2-40B4-BE49-F238E27FC236}">
                <a16:creationId xmlns:a16="http://schemas.microsoft.com/office/drawing/2014/main" id="{BF00996A-ACF0-4227-9152-20649BA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shape-3j4v35e">
            <a:extLst xmlns:a="http://schemas.openxmlformats.org/drawingml/2006/main">
              <a:ext uri="{FF2B5EF4-FFF2-40B4-BE49-F238E27FC236}">
                <a16:creationId xmlns:a16="http://schemas.microsoft.com/office/drawing/2014/main" id="{94BEDA39-D8D4-410A-8EE7-A3D93CAF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62100"/>
            <a:ext cx="86868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1574afbc348bb"/>
          <a:stretch xmlns:a="http://schemas.openxmlformats.org/drawingml/2006/main"/>
        </p:blipFill>
        <p:spPr>
          <a:xfrm xmlns:a="http://schemas.openxmlformats.org/drawingml/2006/main">
            <a:off x="709412" y="1619250"/>
            <a:ext cx="7953776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8" name="text-ndl99gc">
            <a:extLst xmlns:a="http://schemas.openxmlformats.org/drawingml/2006/main">
              <a:ext uri="{FF2B5EF4-FFF2-40B4-BE49-F238E27FC236}">
                <a16:creationId xmlns:a16="http://schemas.microsoft.com/office/drawing/2014/main" id="{FB910EBC-EF93-4C34-8D83-A6E082D5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治理资产</a:t>
            </a:r>
          </a:p>
        </p:txBody>
      </p:sp>
      <p:sp>
        <p:nvSpPr>
          <p:cNvPr id="9" name="text-xor56h9">
            <a:extLst xmlns:a="http://schemas.openxmlformats.org/drawingml/2006/main">
              <a:ext uri="{FF2B5EF4-FFF2-40B4-BE49-F238E27FC236}">
                <a16:creationId xmlns:a16="http://schemas.microsoft.com/office/drawing/2014/main" id="{464B9C8A-F94C-4674-8863-72850032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95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文档知识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DDL / Schema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业务指标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表关系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同义词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标准 SQL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黄金问题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0" name="text-5y0lifu">
            <a:extLst xmlns:a="http://schemas.openxmlformats.org/drawingml/2006/main">
              <a:ext uri="{FF2B5EF4-FFF2-40B4-BE49-F238E27FC236}">
                <a16:creationId xmlns:a16="http://schemas.microsoft.com/office/drawing/2014/main" id="{CE799322-1E9B-4A38-9A13-DC96E065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3400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17 文档 · 26 Schema · 37 指标</a:t>
            </a:r>
          </a:p>
          <a:p xmlns:a="http://schemas.openxmlformats.org/drawingml/2006/main">
            <a:pPr algn="ctr">
              <a:defRPr sz="10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44 关系 · 61 同义词 · 26 标准 SQL</a:t>
            </a:r>
          </a:p>
        </p:txBody>
      </p:sp>
    </p:spTree>
    <p:extLst>
      <p:ext uri="{BB962C8B-B14F-4D97-AF65-F5344CB8AC3E}">
        <p14:creationId xmlns:p14="http://schemas.microsoft.com/office/powerpoint/2010/main" val="107128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rorkt6v">
            <a:extLst xmlns:a="http://schemas.openxmlformats.org/drawingml/2006/main">
              <a:ext uri="{FF2B5EF4-FFF2-40B4-BE49-F238E27FC236}">
                <a16:creationId xmlns:a16="http://schemas.microsoft.com/office/drawing/2014/main" id="{1F75324A-888B-48D4-859E-8CDD053E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模型运行配置</a:t>
            </a:r>
          </a:p>
        </p:txBody>
      </p:sp>
      <p:sp>
        <p:nvSpPr>
          <p:cNvPr id="2" name="text-572cua8">
            <a:extLst xmlns:a="http://schemas.openxmlformats.org/drawingml/2006/main">
              <a:ext uri="{FF2B5EF4-FFF2-40B4-BE49-F238E27FC236}">
                <a16:creationId xmlns:a16="http://schemas.microsoft.com/office/drawing/2014/main" id="{9A693F45-2B42-4C7E-A106-10F13771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聊天模型与向量模型独立路由，切换不污染既有索引</a:t>
            </a:r>
          </a:p>
        </p:txBody>
      </p:sp>
      <p:sp>
        <p:nvSpPr>
          <p:cNvPr id="3" name="shape-y5u2hzx">
            <a:extLst xmlns:a="http://schemas.openxmlformats.org/drawingml/2006/main">
              <a:ext uri="{FF2B5EF4-FFF2-40B4-BE49-F238E27FC236}">
                <a16:creationId xmlns:a16="http://schemas.microsoft.com/office/drawing/2014/main" id="{54B3D7B1-64E2-452D-90C4-840EBA15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q1o7ic1">
            <a:extLst xmlns:a="http://schemas.openxmlformats.org/drawingml/2006/main">
              <a:ext uri="{FF2B5EF4-FFF2-40B4-BE49-F238E27FC236}">
                <a16:creationId xmlns:a16="http://schemas.microsoft.com/office/drawing/2014/main" id="{8E547E16-C640-4E55-B652-A60A2423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zzv3cal">
            <a:extLst xmlns:a="http://schemas.openxmlformats.org/drawingml/2006/main">
              <a:ext uri="{FF2B5EF4-FFF2-40B4-BE49-F238E27FC236}">
                <a16:creationId xmlns:a16="http://schemas.microsoft.com/office/drawing/2014/main" id="{A30A0024-F978-43BA-94AE-9760F1B1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shape-e8y80sw">
            <a:extLst xmlns:a="http://schemas.openxmlformats.org/drawingml/2006/main">
              <a:ext uri="{FF2B5EF4-FFF2-40B4-BE49-F238E27FC236}">
                <a16:creationId xmlns:a16="http://schemas.microsoft.com/office/drawing/2014/main" id="{9A665316-93E8-4D92-8A88-9748D42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62100"/>
            <a:ext cx="79248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f04bd72e545f6"/>
          <a:stretch xmlns:a="http://schemas.openxmlformats.org/drawingml/2006/main"/>
        </p:blipFill>
        <p:spPr>
          <a:xfrm xmlns:a="http://schemas.openxmlformats.org/drawingml/2006/main">
            <a:off x="400050" y="1659571"/>
            <a:ext cx="7810500" cy="4396108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8" name="shape-dj3nsb9">
            <a:extLst xmlns:a="http://schemas.openxmlformats.org/drawingml/2006/main">
              <a:ext uri="{FF2B5EF4-FFF2-40B4-BE49-F238E27FC236}">
                <a16:creationId xmlns:a16="http://schemas.microsoft.com/office/drawing/2014/main" id="{E914412A-1888-4803-83A0-74F0A15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text-4xak3lp">
            <a:extLst xmlns:a="http://schemas.openxmlformats.org/drawingml/2006/main">
              <a:ext uri="{FF2B5EF4-FFF2-40B4-BE49-F238E27FC236}">
                <a16:creationId xmlns:a16="http://schemas.microsoft.com/office/drawing/2014/main" id="{54181D4C-773D-47A7-8481-95E19629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Chat Provider</a:t>
            </a:r>
          </a:p>
        </p:txBody>
      </p:sp>
      <p:sp>
        <p:nvSpPr>
          <p:cNvPr id="10" name="text-1vxgcsk">
            <a:extLst xmlns:a="http://schemas.openxmlformats.org/drawingml/2006/main">
              <a:ext uri="{FF2B5EF4-FFF2-40B4-BE49-F238E27FC236}">
                <a16:creationId xmlns:a16="http://schemas.microsoft.com/office/drawing/2014/main" id="{13B69C52-CD34-4C8C-90EB-C1610FBC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生成 SQL</a:t>
            </a:r>
          </a:p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Ollama / Qwen-compatible</a:t>
            </a:r>
          </a:p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切换后下一次生成生效</a:t>
            </a:r>
          </a:p>
        </p:txBody>
      </p:sp>
      <p:sp>
        <p:nvSpPr>
          <p:cNvPr id="11" name="shape-yce38lp">
            <a:extLst xmlns:a="http://schemas.openxmlformats.org/drawingml/2006/main">
              <a:ext uri="{FF2B5EF4-FFF2-40B4-BE49-F238E27FC236}">
                <a16:creationId xmlns:a16="http://schemas.microsoft.com/office/drawing/2014/main" id="{DD48D6E4-B3E0-41CA-A37B-B44F43F2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12" name="text-qe0apfg">
            <a:extLst xmlns:a="http://schemas.openxmlformats.org/drawingml/2006/main">
              <a:ext uri="{FF2B5EF4-FFF2-40B4-BE49-F238E27FC236}">
                <a16:creationId xmlns:a16="http://schemas.microsoft.com/office/drawing/2014/main" id="{264DCCF0-D200-4023-9437-FE5A0363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Embedding Provider</a:t>
            </a:r>
          </a:p>
        </p:txBody>
      </p:sp>
      <p:sp>
        <p:nvSpPr>
          <p:cNvPr id="13" name="text-tycyzny">
            <a:extLst xmlns:a="http://schemas.openxmlformats.org/drawingml/2006/main">
              <a:ext uri="{FF2B5EF4-FFF2-40B4-BE49-F238E27FC236}">
                <a16:creationId xmlns:a16="http://schemas.microsoft.com/office/drawing/2014/main" id="{76577FD0-DE67-4762-B7A0-C9D8222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生成知识向量</a:t>
            </a:r>
          </a:p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不同 provider / model</a:t>
            </a:r>
          </a:p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使用独立 Qdrant 集合</a:t>
            </a:r>
          </a:p>
        </p:txBody>
      </p:sp>
      <p:sp>
        <p:nvSpPr>
          <p:cNvPr id="14" name="text-6wl98vi">
            <a:extLst xmlns:a="http://schemas.openxmlformats.org/drawingml/2006/main">
              <a:ext uri="{FF2B5EF4-FFF2-40B4-BE49-F238E27FC236}">
                <a16:creationId xmlns:a16="http://schemas.microsoft.com/office/drawing/2014/main" id="{1438C57A-2127-41A9-A2B7-266255A2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API Key 只存在服务器环境，不返回前端</a:t>
            </a:r>
          </a:p>
        </p:txBody>
      </p:sp>
    </p:spTree>
    <p:extLst>
      <p:ext uri="{BB962C8B-B14F-4D97-AF65-F5344CB8AC3E}">
        <p14:creationId xmlns:p14="http://schemas.microsoft.com/office/powerpoint/2010/main" val="19036703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qotqvib">
            <a:extLst xmlns:a="http://schemas.openxmlformats.org/drawingml/2006/main">
              <a:ext uri="{FF2B5EF4-FFF2-40B4-BE49-F238E27FC236}">
                <a16:creationId xmlns:a16="http://schemas.microsoft.com/office/drawing/2014/main" id="{00AB8D68-0E13-438F-B440-50E5EC67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安全体系</a:t>
            </a:r>
          </a:p>
        </p:txBody>
      </p:sp>
      <p:sp>
        <p:nvSpPr>
          <p:cNvPr id="2" name="text-6qkkzn3">
            <a:extLst xmlns:a="http://schemas.openxmlformats.org/drawingml/2006/main">
              <a:ext uri="{FF2B5EF4-FFF2-40B4-BE49-F238E27FC236}">
                <a16:creationId xmlns:a16="http://schemas.microsoft.com/office/drawing/2014/main" id="{02688689-349C-47A2-A3F8-6C5830A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安全采用纵深防御：任何一层失效都不应直接导致数据泄露</a:t>
            </a:r>
          </a:p>
        </p:txBody>
      </p:sp>
      <p:sp>
        <p:nvSpPr>
          <p:cNvPr id="3" name="shape-7mmwkl2">
            <a:extLst xmlns:a="http://schemas.openxmlformats.org/drawingml/2006/main">
              <a:ext uri="{FF2B5EF4-FFF2-40B4-BE49-F238E27FC236}">
                <a16:creationId xmlns:a16="http://schemas.microsoft.com/office/drawing/2014/main" id="{770C2ECC-42B1-4746-B441-C8775EDD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wi8tdnp">
            <a:extLst xmlns:a="http://schemas.openxmlformats.org/drawingml/2006/main">
              <a:ext uri="{FF2B5EF4-FFF2-40B4-BE49-F238E27FC236}">
                <a16:creationId xmlns:a16="http://schemas.microsoft.com/office/drawing/2014/main" id="{78F50260-59B5-4FF0-B306-DFB00227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2im709o">
            <a:extLst xmlns:a="http://schemas.openxmlformats.org/drawingml/2006/main">
              <a:ext uri="{FF2B5EF4-FFF2-40B4-BE49-F238E27FC236}">
                <a16:creationId xmlns:a16="http://schemas.microsoft.com/office/drawing/2014/main" id="{C8AFAF0C-EB90-47A2-9564-3DEE9D26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shape-znlch13">
            <a:extLst xmlns:a="http://schemas.openxmlformats.org/drawingml/2006/main">
              <a:ext uri="{FF2B5EF4-FFF2-40B4-BE49-F238E27FC236}">
                <a16:creationId xmlns:a16="http://schemas.microsoft.com/office/drawing/2014/main" id="{1CCE5B5D-6DC2-4B5C-927D-E8AFE111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text-fk4c8v8">
            <a:extLst xmlns:a="http://schemas.openxmlformats.org/drawingml/2006/main">
              <a:ext uri="{FF2B5EF4-FFF2-40B4-BE49-F238E27FC236}">
                <a16:creationId xmlns:a16="http://schemas.microsoft.com/office/drawing/2014/main" id="{E72FA18F-0C6C-4161-966F-66CEED08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网络边界</a:t>
            </a:r>
          </a:p>
        </p:txBody>
      </p:sp>
      <p:sp>
        <p:nvSpPr>
          <p:cNvPr id="8" name="text-hx33xbm">
            <a:extLst xmlns:a="http://schemas.openxmlformats.org/drawingml/2006/main">
              <a:ext uri="{FF2B5EF4-FFF2-40B4-BE49-F238E27FC236}">
                <a16:creationId xmlns:a16="http://schemas.microsoft.com/office/drawing/2014/main" id="{C750B9DB-8862-4FBC-B359-F48DE60D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90700"/>
            <a:ext cx="870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用户区 / 应用区 / AI 区 / 数据区分段；TLS 与端口白名单</a:t>
            </a:r>
          </a:p>
        </p:txBody>
      </p:sp>
      <p:sp>
        <p:nvSpPr>
          <p:cNvPr id="9" name="shape-mzg2ub2">
            <a:extLst xmlns:a="http://schemas.openxmlformats.org/drawingml/2006/main">
              <a:ext uri="{FF2B5EF4-FFF2-40B4-BE49-F238E27FC236}">
                <a16:creationId xmlns:a16="http://schemas.microsoft.com/office/drawing/2014/main" id="{BE1C6D5A-E947-4D57-B7AC-08F6BB50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10" name="text-253x9zh">
            <a:extLst xmlns:a="http://schemas.openxmlformats.org/drawingml/2006/main">
              <a:ext uri="{FF2B5EF4-FFF2-40B4-BE49-F238E27FC236}">
                <a16:creationId xmlns:a16="http://schemas.microsoft.com/office/drawing/2014/main" id="{0BBE5F31-B5FA-4931-965D-748A14D1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身份权限</a:t>
            </a:r>
          </a:p>
        </p:txBody>
      </p:sp>
      <p:sp>
        <p:nvSpPr>
          <p:cNvPr id="11" name="text-ou5emkw">
            <a:extLst xmlns:a="http://schemas.openxmlformats.org/drawingml/2006/main">
              <a:ext uri="{FF2B5EF4-FFF2-40B4-BE49-F238E27FC236}">
                <a16:creationId xmlns:a16="http://schemas.microsoft.com/office/drawing/2014/main" id="{517EC108-72DE-40C4-961A-32AFD291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870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SSO/MFA（目标）· RBAC · ABAC（目标）· 短时提权</a:t>
            </a:r>
          </a:p>
        </p:txBody>
      </p:sp>
      <p:sp>
        <p:nvSpPr>
          <p:cNvPr id="12" name="shape-iyg5ssk">
            <a:extLst xmlns:a="http://schemas.openxmlformats.org/drawingml/2006/main">
              <a:ext uri="{FF2B5EF4-FFF2-40B4-BE49-F238E27FC236}">
                <a16:creationId xmlns:a16="http://schemas.microsoft.com/office/drawing/2014/main" id="{C85FB392-62C3-456F-ADC3-F35D43D0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3" name="text-ltaymxx">
            <a:extLst xmlns:a="http://schemas.openxmlformats.org/drawingml/2006/main">
              <a:ext uri="{FF2B5EF4-FFF2-40B4-BE49-F238E27FC236}">
                <a16:creationId xmlns:a16="http://schemas.microsoft.com/office/drawing/2014/main" id="{F2D629DD-8704-44B9-887A-B4FBC813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AI 控制</a:t>
            </a:r>
          </a:p>
        </p:txBody>
      </p:sp>
      <p:sp>
        <p:nvSpPr>
          <p:cNvPr id="14" name="text-40t3vdt">
            <a:extLst xmlns:a="http://schemas.openxmlformats.org/drawingml/2006/main">
              <a:ext uri="{FF2B5EF4-FFF2-40B4-BE49-F238E27FC236}">
                <a16:creationId xmlns:a16="http://schemas.microsoft.com/office/drawing/2014/main" id="{07CD098C-36C6-42EF-A655-2D0A8E3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05200"/>
            <a:ext cx="870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可信上下文 · Prompt 版本 · 模型白名单 · JSON 输出校验 · 红队评测</a:t>
            </a:r>
          </a:p>
        </p:txBody>
      </p:sp>
      <p:sp>
        <p:nvSpPr>
          <p:cNvPr id="15" name="shape-6o6t0u0">
            <a:extLst xmlns:a="http://schemas.openxmlformats.org/drawingml/2006/main">
              <a:ext uri="{FF2B5EF4-FFF2-40B4-BE49-F238E27FC236}">
                <a16:creationId xmlns:a16="http://schemas.microsoft.com/office/drawing/2014/main" id="{78BE8493-2621-453A-ABA4-30B1C602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6" name="text-egcd2f6">
            <a:extLst xmlns:a="http://schemas.openxmlformats.org/drawingml/2006/main">
              <a:ext uri="{FF2B5EF4-FFF2-40B4-BE49-F238E27FC236}">
                <a16:creationId xmlns:a16="http://schemas.microsoft.com/office/drawing/2014/main" id="{49A25304-E38D-40AC-985A-7B39A2B8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SQL / 数据</a:t>
            </a:r>
          </a:p>
        </p:txBody>
      </p:sp>
      <p:sp>
        <p:nvSpPr>
          <p:cNvPr id="17" name="text-6oef2we">
            <a:extLst xmlns:a="http://schemas.openxmlformats.org/drawingml/2006/main">
              <a:ext uri="{FF2B5EF4-FFF2-40B4-BE49-F238E27FC236}">
                <a16:creationId xmlns:a16="http://schemas.microsoft.com/office/drawing/2014/main" id="{B3DDFAA5-7A04-42AB-B959-75D3FF60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870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AST · 单 SELECT · 表白名单 · 行列策略（目标）· 只读账号 · 脱敏</a:t>
            </a:r>
          </a:p>
        </p:txBody>
      </p:sp>
      <p:sp>
        <p:nvSpPr>
          <p:cNvPr id="18" name="shape-wesmoay">
            <a:extLst xmlns:a="http://schemas.openxmlformats.org/drawingml/2006/main">
              <a:ext uri="{FF2B5EF4-FFF2-40B4-BE49-F238E27FC236}">
                <a16:creationId xmlns:a16="http://schemas.microsoft.com/office/drawing/2014/main" id="{5D175A97-9E67-4E90-8A7D-02454101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9" name="text-hhbx93s">
            <a:extLst xmlns:a="http://schemas.openxmlformats.org/drawingml/2006/main">
              <a:ext uri="{FF2B5EF4-FFF2-40B4-BE49-F238E27FC236}">
                <a16:creationId xmlns:a16="http://schemas.microsoft.com/office/drawing/2014/main" id="{A55E6B99-EB1A-42A3-9AF4-5A98F67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审计运营</a:t>
            </a:r>
          </a:p>
        </p:txBody>
      </p:sp>
      <p:sp>
        <p:nvSpPr>
          <p:cNvPr id="20" name="text-md380y2">
            <a:extLst xmlns:a="http://schemas.openxmlformats.org/drawingml/2006/main">
              <a:ext uri="{FF2B5EF4-FFF2-40B4-BE49-F238E27FC236}">
                <a16:creationId xmlns:a16="http://schemas.microsoft.com/office/drawing/2014/main" id="{8D029850-3690-4F8B-BC1C-21FE541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19700"/>
            <a:ext cx="870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问题 / 模型 / SQL / 策略 / 结果摘要 / 导出 · 不可变审计（目标）</a:t>
            </a:r>
          </a:p>
        </p:txBody>
      </p:sp>
    </p:spTree>
    <p:extLst>
      <p:ext uri="{BB962C8B-B14F-4D97-AF65-F5344CB8AC3E}">
        <p14:creationId xmlns:p14="http://schemas.microsoft.com/office/powerpoint/2010/main" val="11294078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ext-15s1ubs">
            <a:extLst xmlns:a="http://schemas.openxmlformats.org/drawingml/2006/main">
              <a:ext uri="{FF2B5EF4-FFF2-40B4-BE49-F238E27FC236}">
                <a16:creationId xmlns:a16="http://schemas.microsoft.com/office/drawing/2014/main" id="{1DF7D642-54F4-4559-891C-F254AA72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数据隔离 / 现状与目标</a:t>
            </a:r>
          </a:p>
        </p:txBody>
      </p:sp>
      <p:sp>
        <p:nvSpPr>
          <p:cNvPr id="2" name="text-9byuhtv">
            <a:extLst xmlns:a="http://schemas.openxmlformats.org/drawingml/2006/main">
              <a:ext uri="{FF2B5EF4-FFF2-40B4-BE49-F238E27FC236}">
                <a16:creationId xmlns:a16="http://schemas.microsoft.com/office/drawing/2014/main" id="{E9F6C431-CAA8-48D1-B047-0C23A880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当前功能隔离已具备，但生产数据隔离仍有 4 个 P0 缺口</a:t>
            </a:r>
          </a:p>
        </p:txBody>
      </p:sp>
      <p:sp>
        <p:nvSpPr>
          <p:cNvPr id="3" name="shape-h8z5xqy">
            <a:extLst xmlns:a="http://schemas.openxmlformats.org/drawingml/2006/main">
              <a:ext uri="{FF2B5EF4-FFF2-40B4-BE49-F238E27FC236}">
                <a16:creationId xmlns:a16="http://schemas.microsoft.com/office/drawing/2014/main" id="{96480649-852D-4EB1-9A72-F49F9F18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vrr9tyz">
            <a:extLst xmlns:a="http://schemas.openxmlformats.org/drawingml/2006/main">
              <a:ext uri="{FF2B5EF4-FFF2-40B4-BE49-F238E27FC236}">
                <a16:creationId xmlns:a16="http://schemas.microsoft.com/office/drawing/2014/main" id="{AC87A597-C648-4C4C-97A8-FA677C01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m78she4">
            <a:extLst xmlns:a="http://schemas.openxmlformats.org/drawingml/2006/main">
              <a:ext uri="{FF2B5EF4-FFF2-40B4-BE49-F238E27FC236}">
                <a16:creationId xmlns:a16="http://schemas.microsoft.com/office/drawing/2014/main" id="{B1639CDA-293A-4257-96F8-B2C7CC0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text-8wlloky">
            <a:extLst xmlns:a="http://schemas.openxmlformats.org/drawingml/2006/main">
              <a:ext uri="{FF2B5EF4-FFF2-40B4-BE49-F238E27FC236}">
                <a16:creationId xmlns:a16="http://schemas.microsoft.com/office/drawing/2014/main" id="{0CC143C1-9F69-4E9C-AC93-DB139F8A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当前 AS-IS</a:t>
            </a:r>
          </a:p>
        </p:txBody>
      </p:sp>
      <p:sp>
        <p:nvSpPr>
          <p:cNvPr id="7" name="text-1mht19y">
            <a:extLst xmlns:a="http://schemas.openxmlformats.org/drawingml/2006/main">
              <a:ext uri="{FF2B5EF4-FFF2-40B4-BE49-F238E27FC236}">
                <a16:creationId xmlns:a16="http://schemas.microsoft.com/office/drawing/2014/main" id="{CA7786AC-3A98-4B0D-BE62-4E929A7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目标 TO-BE</a:t>
            </a:r>
          </a:p>
        </p:txBody>
      </p:sp>
      <p:sp>
        <p:nvSpPr>
          <p:cNvPr id="8" name="shape-avaq2dt">
            <a:extLst xmlns:a="http://schemas.openxmlformats.org/drawingml/2006/main">
              <a:ext uri="{FF2B5EF4-FFF2-40B4-BE49-F238E27FC236}">
                <a16:creationId xmlns:a16="http://schemas.microsoft.com/office/drawing/2014/main" id="{7D286EC7-6D61-4F09-81A9-35258146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6purt38">
            <a:extLst xmlns:a="http://schemas.openxmlformats.org/drawingml/2006/main">
              <a:ext uri="{FF2B5EF4-FFF2-40B4-BE49-F238E27FC236}">
                <a16:creationId xmlns:a16="http://schemas.microsoft.com/office/drawing/2014/main" id="{8A286A5B-36C0-4356-9C22-F0B5ABC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10" name="text-l2cxb3a">
            <a:extLst xmlns:a="http://schemas.openxmlformats.org/drawingml/2006/main">
              <a:ext uri="{FF2B5EF4-FFF2-40B4-BE49-F238E27FC236}">
                <a16:creationId xmlns:a16="http://schemas.microsoft.com/office/drawing/2014/main" id="{BED314BB-7C75-4C3E-9820-AFA89F0A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33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三项服务端 RBAC</a:t>
            </a:r>
          </a:p>
        </p:txBody>
      </p:sp>
      <p:sp>
        <p:nvSpPr>
          <p:cNvPr id="11" name="text-lilo325">
            <a:extLst xmlns:a="http://schemas.openxmlformats.org/drawingml/2006/main">
              <a:ext uri="{FF2B5EF4-FFF2-40B4-BE49-F238E27FC236}">
                <a16:creationId xmlns:a16="http://schemas.microsoft.com/office/drawing/2014/main" id="{DAE774E3-BAEB-4BE5-967A-50CEA6F4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2" name="shape-hhxyw76">
            <a:extLst xmlns:a="http://schemas.openxmlformats.org/drawingml/2006/main">
              <a:ext uri="{FF2B5EF4-FFF2-40B4-BE49-F238E27FC236}">
                <a16:creationId xmlns:a16="http://schemas.microsoft.com/office/drawing/2014/main" id="{A6F82829-4B22-4E54-917D-4F423B63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h5xmdje">
            <a:extLst xmlns:a="http://schemas.openxmlformats.org/drawingml/2006/main">
              <a:ext uri="{FF2B5EF4-FFF2-40B4-BE49-F238E27FC236}">
                <a16:creationId xmlns:a16="http://schemas.microsoft.com/office/drawing/2014/main" id="{EBC8B712-6625-4690-886A-7AF6959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Qdrant</a:t>
            </a:r>
          </a:p>
        </p:txBody>
      </p:sp>
      <p:sp>
        <p:nvSpPr>
          <p:cNvPr id="14" name="text-nh4kgyz">
            <a:extLst xmlns:a="http://schemas.openxmlformats.org/drawingml/2006/main">
              <a:ext uri="{FF2B5EF4-FFF2-40B4-BE49-F238E27FC236}">
                <a16:creationId xmlns:a16="http://schemas.microsoft.com/office/drawing/2014/main" id="{96F1CA0B-F8C1-4837-B80D-002196E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622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按 provider/model/domain 分集合</a:t>
            </a:r>
          </a:p>
        </p:txBody>
      </p:sp>
      <p:sp>
        <p:nvSpPr>
          <p:cNvPr id="15" name="text-1s7r87v">
            <a:extLst xmlns:a="http://schemas.openxmlformats.org/drawingml/2006/main">
              <a:ext uri="{FF2B5EF4-FFF2-40B4-BE49-F238E27FC236}">
                <a16:creationId xmlns:a16="http://schemas.microsoft.com/office/drawing/2014/main" id="{A415C228-EC81-403A-9FB2-207C6E2F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16" name="shape-6d18owt">
            <a:extLst xmlns:a="http://schemas.openxmlformats.org/drawingml/2006/main">
              <a:ext uri="{FF2B5EF4-FFF2-40B4-BE49-F238E27FC236}">
                <a16:creationId xmlns:a16="http://schemas.microsoft.com/office/drawing/2014/main" id="{8428AE15-B843-497E-96A2-31888BA7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7" name="text-jah49l9">
            <a:extLst xmlns:a="http://schemas.openxmlformats.org/drawingml/2006/main">
              <a:ext uri="{FF2B5EF4-FFF2-40B4-BE49-F238E27FC236}">
                <a16:creationId xmlns:a16="http://schemas.microsoft.com/office/drawing/2014/main" id="{2540B238-36C7-4E6D-9806-B46ECE88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查询归属</a:t>
            </a:r>
          </a:p>
        </p:txBody>
      </p:sp>
      <p:sp>
        <p:nvSpPr>
          <p:cNvPr id="18" name="text-bha5p4w">
            <a:extLst xmlns:a="http://schemas.openxmlformats.org/drawingml/2006/main">
              <a:ext uri="{FF2B5EF4-FFF2-40B4-BE49-F238E27FC236}">
                <a16:creationId xmlns:a16="http://schemas.microsoft.com/office/drawing/2014/main" id="{1BCDB902-A911-40AB-978C-F22D685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909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无 tenant_id / user_id</a:t>
            </a:r>
          </a:p>
        </p:txBody>
      </p:sp>
      <p:sp>
        <p:nvSpPr>
          <p:cNvPr id="19" name="text-0tsxjd1">
            <a:extLst xmlns:a="http://schemas.openxmlformats.org/drawingml/2006/main">
              <a:ext uri="{FF2B5EF4-FFF2-40B4-BE49-F238E27FC236}">
                <a16:creationId xmlns:a16="http://schemas.microsoft.com/office/drawing/2014/main" id="{C790FA2A-DFCE-40C9-A05A-3E5996A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909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20" name="shape-pneyk50">
            <a:extLst xmlns:a="http://schemas.openxmlformats.org/drawingml/2006/main">
              <a:ext uri="{FF2B5EF4-FFF2-40B4-BE49-F238E27FC236}">
                <a16:creationId xmlns:a16="http://schemas.microsoft.com/office/drawing/2014/main" id="{1DEB761E-4739-401F-BA49-5013BE36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text-trdhxmu">
            <a:extLst xmlns:a="http://schemas.openxmlformats.org/drawingml/2006/main">
              <a:ext uri="{FF2B5EF4-FFF2-40B4-BE49-F238E27FC236}">
                <a16:creationId xmlns:a16="http://schemas.microsoft.com/office/drawing/2014/main" id="{12EC54E5-17A5-4DE4-BB68-1FC8818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报告归属</a:t>
            </a:r>
          </a:p>
        </p:txBody>
      </p:sp>
      <p:sp>
        <p:nvSpPr>
          <p:cNvPr id="22" name="text-f8u296y">
            <a:extLst xmlns:a="http://schemas.openxmlformats.org/drawingml/2006/main">
              <a:ext uri="{FF2B5EF4-FFF2-40B4-BE49-F238E27FC236}">
                <a16:creationId xmlns:a16="http://schemas.microsoft.com/office/drawing/2014/main" id="{9C7F21CC-B5CA-49CE-9C9C-18B6913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95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无 tenant_id / created_by</a:t>
            </a:r>
          </a:p>
        </p:txBody>
      </p:sp>
      <p:sp>
        <p:nvSpPr>
          <p:cNvPr id="23" name="text-vr3rdqo">
            <a:extLst xmlns:a="http://schemas.openxmlformats.org/drawingml/2006/main">
              <a:ext uri="{FF2B5EF4-FFF2-40B4-BE49-F238E27FC236}">
                <a16:creationId xmlns:a16="http://schemas.microsoft.com/office/drawing/2014/main" id="{4227DC5D-E631-4D95-B854-4D31EF4B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24" name="shape-hn87x3m">
            <a:extLst xmlns:a="http://schemas.openxmlformats.org/drawingml/2006/main">
              <a:ext uri="{FF2B5EF4-FFF2-40B4-BE49-F238E27FC236}">
                <a16:creationId xmlns:a16="http://schemas.microsoft.com/office/drawing/2014/main" id="{00A64E90-F822-48F2-90EE-95B7E411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5" name="text-ntjpccy">
            <a:extLst xmlns:a="http://schemas.openxmlformats.org/drawingml/2006/main">
              <a:ext uri="{FF2B5EF4-FFF2-40B4-BE49-F238E27FC236}">
                <a16:creationId xmlns:a16="http://schemas.microsoft.com/office/drawing/2014/main" id="{3F98F4C8-0F81-44BF-8785-01F85A3D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行列权限</a:t>
            </a:r>
          </a:p>
        </p:txBody>
      </p:sp>
      <p:sp>
        <p:nvSpPr>
          <p:cNvPr id="26" name="text-ek7ulrp">
            <a:extLst xmlns:a="http://schemas.openxmlformats.org/drawingml/2006/main">
              <a:ext uri="{FF2B5EF4-FFF2-40B4-BE49-F238E27FC236}">
                <a16:creationId xmlns:a16="http://schemas.microsoft.com/office/drawing/2014/main" id="{AD1A37DE-36DA-4DAC-82EF-F223A42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482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尚未注入</a:t>
            </a:r>
          </a:p>
        </p:txBody>
      </p:sp>
      <p:sp>
        <p:nvSpPr>
          <p:cNvPr id="27" name="text-p875frf">
            <a:extLst xmlns:a="http://schemas.openxmlformats.org/drawingml/2006/main">
              <a:ext uri="{FF2B5EF4-FFF2-40B4-BE49-F238E27FC236}">
                <a16:creationId xmlns:a16="http://schemas.microsoft.com/office/drawing/2014/main" id="{E3821176-F693-4E36-978B-54F9D979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482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28" name="shape-pyz660f">
            <a:extLst xmlns:a="http://schemas.openxmlformats.org/drawingml/2006/main">
              <a:ext uri="{FF2B5EF4-FFF2-40B4-BE49-F238E27FC236}">
                <a16:creationId xmlns:a16="http://schemas.microsoft.com/office/drawing/2014/main" id="{FA516A5C-7E73-432C-8D9D-3C8472BA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542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9" name="text-03kf81j">
            <a:extLst xmlns:a="http://schemas.openxmlformats.org/drawingml/2006/main">
              <a:ext uri="{FF2B5EF4-FFF2-40B4-BE49-F238E27FC236}">
                <a16:creationId xmlns:a16="http://schemas.microsoft.com/office/drawing/2014/main" id="{5E467C84-70C0-4939-AA77-4E1A1A88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30" name="text-m20m2di">
            <a:extLst xmlns:a="http://schemas.openxmlformats.org/drawingml/2006/main">
              <a:ext uri="{FF2B5EF4-FFF2-40B4-BE49-F238E27FC236}">
                <a16:creationId xmlns:a16="http://schemas.microsoft.com/office/drawing/2014/main" id="{266647D7-43CC-40FE-9549-49A6FADA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平台与演示业务同一连接</a:t>
            </a:r>
          </a:p>
        </p:txBody>
      </p:sp>
      <p:sp>
        <p:nvSpPr>
          <p:cNvPr id="31" name="text-bo2f6om">
            <a:extLst xmlns:a="http://schemas.openxmlformats.org/drawingml/2006/main">
              <a:ext uri="{FF2B5EF4-FFF2-40B4-BE49-F238E27FC236}">
                <a16:creationId xmlns:a16="http://schemas.microsoft.com/office/drawing/2014/main" id="{068585C0-749E-452D-AB16-2CC4947D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76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32" name="shape-c2q4dev">
            <a:extLst xmlns:a="http://schemas.openxmlformats.org/drawingml/2006/main">
              <a:ext uri="{FF2B5EF4-FFF2-40B4-BE49-F238E27FC236}">
                <a16:creationId xmlns:a16="http://schemas.microsoft.com/office/drawing/2014/main" id="{525967A7-9EDF-424E-B30A-5FE04C07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33" name="text-i0tkpfg">
            <a:extLst xmlns:a="http://schemas.openxmlformats.org/drawingml/2006/main">
              <a:ext uri="{FF2B5EF4-FFF2-40B4-BE49-F238E27FC236}">
                <a16:creationId xmlns:a16="http://schemas.microsoft.com/office/drawing/2014/main" id="{733764AD-C477-495D-98D2-0E1617B3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租户 / Owner</a:t>
            </a:r>
          </a:p>
        </p:txBody>
      </p:sp>
      <p:sp>
        <p:nvSpPr>
          <p:cNvPr id="34" name="text-nhtkg89">
            <a:extLst xmlns:a="http://schemas.openxmlformats.org/drawingml/2006/main">
              <a:ext uri="{FF2B5EF4-FFF2-40B4-BE49-F238E27FC236}">
                <a16:creationId xmlns:a16="http://schemas.microsoft.com/office/drawing/2014/main" id="{E92FDDBC-A2AD-49BC-B2F2-675DDA69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所有资产与历史强制归属</a:t>
            </a:r>
          </a:p>
        </p:txBody>
      </p:sp>
      <p:sp>
        <p:nvSpPr>
          <p:cNvPr id="35" name="shape-h1mltwu">
            <a:extLst xmlns:a="http://schemas.openxmlformats.org/drawingml/2006/main">
              <a:ext uri="{FF2B5EF4-FFF2-40B4-BE49-F238E27FC236}">
                <a16:creationId xmlns:a16="http://schemas.microsoft.com/office/drawing/2014/main" id="{3CD19213-DD0B-4A50-B7DD-C18F0F43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36" name="text-v1eaifi">
            <a:extLst xmlns:a="http://schemas.openxmlformats.org/drawingml/2006/main">
              <a:ext uri="{FF2B5EF4-FFF2-40B4-BE49-F238E27FC236}">
                <a16:creationId xmlns:a16="http://schemas.microsoft.com/office/drawing/2014/main" id="{09B63B84-CD59-4336-90BA-33C589BC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62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Domain</a:t>
            </a:r>
          </a:p>
        </p:txBody>
      </p:sp>
      <p:sp>
        <p:nvSpPr>
          <p:cNvPr id="37" name="text-90z0cu2">
            <a:extLst xmlns:a="http://schemas.openxmlformats.org/drawingml/2006/main">
              <a:ext uri="{FF2B5EF4-FFF2-40B4-BE49-F238E27FC236}">
                <a16:creationId xmlns:a16="http://schemas.microsoft.com/office/drawing/2014/main" id="{6CD988F2-6545-4A5E-AF9E-1127ECA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622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Schema / 语义 / 知识 / 策略绑定</a:t>
            </a:r>
          </a:p>
        </p:txBody>
      </p:sp>
      <p:sp>
        <p:nvSpPr>
          <p:cNvPr id="38" name="shape-cj5u8bd">
            <a:extLst xmlns:a="http://schemas.openxmlformats.org/drawingml/2006/main">
              <a:ext uri="{FF2B5EF4-FFF2-40B4-BE49-F238E27FC236}">
                <a16:creationId xmlns:a16="http://schemas.microsoft.com/office/drawing/2014/main" id="{5AEDA039-5886-4658-8C34-1158CAA6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39" name="text-ygd59ew">
            <a:extLst xmlns:a="http://schemas.openxmlformats.org/drawingml/2006/main">
              <a:ext uri="{FF2B5EF4-FFF2-40B4-BE49-F238E27FC236}">
                <a16:creationId xmlns:a16="http://schemas.microsoft.com/office/drawing/2014/main" id="{9D2DD626-3C8B-4C87-A4B8-7AD24637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09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行策略</a:t>
            </a:r>
          </a:p>
        </p:txBody>
      </p:sp>
      <p:sp>
        <p:nvSpPr>
          <p:cNvPr id="40" name="text-f9k0926">
            <a:extLst xmlns:a="http://schemas.openxmlformats.org/drawingml/2006/main">
              <a:ext uri="{FF2B5EF4-FFF2-40B4-BE49-F238E27FC236}">
                <a16:creationId xmlns:a16="http://schemas.microsoft.com/office/drawing/2014/main" id="{F0D04517-43F2-46FD-AFFE-F8B305EE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909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Policy AST 合并后再次校验</a:t>
            </a:r>
          </a:p>
        </p:txBody>
      </p:sp>
      <p:sp>
        <p:nvSpPr>
          <p:cNvPr id="41" name="shape-avlwe33">
            <a:extLst xmlns:a="http://schemas.openxmlformats.org/drawingml/2006/main">
              <a:ext uri="{FF2B5EF4-FFF2-40B4-BE49-F238E27FC236}">
                <a16:creationId xmlns:a16="http://schemas.microsoft.com/office/drawing/2014/main" id="{98F0D09A-7616-43A6-A054-3483643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42" name="text-v7ixab8">
            <a:extLst xmlns:a="http://schemas.openxmlformats.org/drawingml/2006/main">
              <a:ext uri="{FF2B5EF4-FFF2-40B4-BE49-F238E27FC236}">
                <a16:creationId xmlns:a16="http://schemas.microsoft.com/office/drawing/2014/main" id="{41237111-45CD-4EC1-AA2C-4A0BEE24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9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列策略</a:t>
            </a:r>
          </a:p>
        </p:txBody>
      </p:sp>
      <p:sp>
        <p:nvSpPr>
          <p:cNvPr id="43" name="text-aexotph">
            <a:extLst xmlns:a="http://schemas.openxmlformats.org/drawingml/2006/main">
              <a:ext uri="{FF2B5EF4-FFF2-40B4-BE49-F238E27FC236}">
                <a16:creationId xmlns:a16="http://schemas.microsoft.com/office/drawing/2014/main" id="{0003A8BA-23F5-474F-9332-CA102BFC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195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授权视图 + 结果脱敏</a:t>
            </a:r>
          </a:p>
        </p:txBody>
      </p:sp>
      <p:sp>
        <p:nvSpPr>
          <p:cNvPr id="44" name="shape-i8s923p">
            <a:extLst xmlns:a="http://schemas.openxmlformats.org/drawingml/2006/main">
              <a:ext uri="{FF2B5EF4-FFF2-40B4-BE49-F238E27FC236}">
                <a16:creationId xmlns:a16="http://schemas.microsoft.com/office/drawing/2014/main" id="{80EE7AD7-81D7-4F01-B7A0-A3E6371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244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45" name="text-c6m2uto">
            <a:extLst xmlns:a="http://schemas.openxmlformats.org/drawingml/2006/main">
              <a:ext uri="{FF2B5EF4-FFF2-40B4-BE49-F238E27FC236}">
                <a16:creationId xmlns:a16="http://schemas.microsoft.com/office/drawing/2014/main" id="{94A3131C-4F59-4BB2-8577-F59DEFF5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8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双数据源</a:t>
            </a:r>
          </a:p>
        </p:txBody>
      </p:sp>
      <p:sp>
        <p:nvSpPr>
          <p:cNvPr id="46" name="text-fyfa6kp">
            <a:extLst xmlns:a="http://schemas.openxmlformats.org/drawingml/2006/main">
              <a:ext uri="{FF2B5EF4-FFF2-40B4-BE49-F238E27FC236}">
                <a16:creationId xmlns:a16="http://schemas.microsoft.com/office/drawing/2014/main" id="{CFA3B3E9-466C-4875-9BB6-A3E25F4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482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平台账号与业务只读账号分离</a:t>
            </a:r>
          </a:p>
        </p:txBody>
      </p:sp>
      <p:sp>
        <p:nvSpPr>
          <p:cNvPr id="47" name="shape-mrz9hpw">
            <a:extLst xmlns:a="http://schemas.openxmlformats.org/drawingml/2006/main">
              <a:ext uri="{FF2B5EF4-FFF2-40B4-BE49-F238E27FC236}">
                <a16:creationId xmlns:a16="http://schemas.microsoft.com/office/drawing/2014/main" id="{63DEB745-8863-4114-9D96-B3E5A10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48" name="text-twjwfim">
            <a:extLst xmlns:a="http://schemas.openxmlformats.org/drawingml/2006/main">
              <a:ext uri="{FF2B5EF4-FFF2-40B4-BE49-F238E27FC236}">
                <a16:creationId xmlns:a16="http://schemas.microsoft.com/office/drawing/2014/main" id="{B9A784FF-C4A7-4735-9B22-CA0C9A2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76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导出</a:t>
            </a:r>
          </a:p>
        </p:txBody>
      </p:sp>
      <p:sp>
        <p:nvSpPr>
          <p:cNvPr id="49" name="text-g5t51x8">
            <a:extLst xmlns:a="http://schemas.openxmlformats.org/drawingml/2006/main">
              <a:ext uri="{FF2B5EF4-FFF2-40B4-BE49-F238E27FC236}">
                <a16:creationId xmlns:a16="http://schemas.microsoft.com/office/drawing/2014/main" id="{AB2A1265-F01B-4762-8B7E-C5C7603E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768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分类、审批、水印与审计</a:t>
            </a:r>
          </a:p>
        </p:txBody>
      </p:sp>
    </p:spTree>
    <p:extLst>
      <p:ext uri="{BB962C8B-B14F-4D97-AF65-F5344CB8AC3E}">
        <p14:creationId xmlns:p14="http://schemas.microsoft.com/office/powerpoint/2010/main" val="6347631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nubazj8">
            <a:extLst xmlns:a="http://schemas.openxmlformats.org/drawingml/2006/main">
              <a:ext uri="{FF2B5EF4-FFF2-40B4-BE49-F238E27FC236}">
                <a16:creationId xmlns:a16="http://schemas.microsoft.com/office/drawing/2014/main" id="{31469A31-AED3-41AC-A7CC-54B3D817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数据隔离 / 策略注入</a:t>
            </a:r>
          </a:p>
        </p:txBody>
      </p:sp>
      <p:sp>
        <p:nvSpPr>
          <p:cNvPr id="2" name="text-flev70z">
            <a:extLst xmlns:a="http://schemas.openxmlformats.org/drawingml/2006/main">
              <a:ext uri="{FF2B5EF4-FFF2-40B4-BE49-F238E27FC236}">
                <a16:creationId xmlns:a16="http://schemas.microsoft.com/office/drawing/2014/main" id="{50AAF670-2182-43CB-9FB8-AA2D0CFB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目标隔离链路在 Prompt 前、SQL 中、结果后实施三次授权</a:t>
            </a:r>
          </a:p>
        </p:txBody>
      </p:sp>
      <p:sp>
        <p:nvSpPr>
          <p:cNvPr id="3" name="shape-10lrnmm">
            <a:extLst xmlns:a="http://schemas.openxmlformats.org/drawingml/2006/main">
              <a:ext uri="{FF2B5EF4-FFF2-40B4-BE49-F238E27FC236}">
                <a16:creationId xmlns:a16="http://schemas.microsoft.com/office/drawing/2014/main" id="{6985514D-5115-4D60-BF26-F2A34788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l1if2na">
            <a:extLst xmlns:a="http://schemas.openxmlformats.org/drawingml/2006/main">
              <a:ext uri="{FF2B5EF4-FFF2-40B4-BE49-F238E27FC236}">
                <a16:creationId xmlns:a16="http://schemas.microsoft.com/office/drawing/2014/main" id="{34133826-E92F-4FC3-9C48-219AB0D9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rkjihsx">
            <a:extLst xmlns:a="http://schemas.openxmlformats.org/drawingml/2006/main">
              <a:ext uri="{FF2B5EF4-FFF2-40B4-BE49-F238E27FC236}">
                <a16:creationId xmlns:a16="http://schemas.microsoft.com/office/drawing/2014/main" id="{69942FB2-18C5-4084-823D-516E5DD9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shape-xt9f15v">
            <a:extLst xmlns:a="http://schemas.openxmlformats.org/drawingml/2006/main">
              <a:ext uri="{FF2B5EF4-FFF2-40B4-BE49-F238E27FC236}">
                <a16:creationId xmlns:a16="http://schemas.microsoft.com/office/drawing/2014/main" id="{5BE0FFF8-DA10-4C6E-BD4B-A1CB122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2667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hape-5s0tw9h">
            <a:extLst xmlns:a="http://schemas.openxmlformats.org/drawingml/2006/main">
              <a:ext uri="{FF2B5EF4-FFF2-40B4-BE49-F238E27FC236}">
                <a16:creationId xmlns:a16="http://schemas.microsoft.com/office/drawing/2014/main" id="{BDC7E167-197D-4C18-A429-0F73F678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19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text-8f0ki55">
            <a:extLst xmlns:a="http://schemas.openxmlformats.org/drawingml/2006/main">
              <a:ext uri="{FF2B5EF4-FFF2-40B4-BE49-F238E27FC236}">
                <a16:creationId xmlns:a16="http://schemas.microsoft.com/office/drawing/2014/main" id="{B8EFB90F-CEAF-41ED-8034-D4440C4C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身份上下文</a:t>
            </a:r>
          </a:p>
        </p:txBody>
      </p:sp>
      <p:sp>
        <p:nvSpPr>
          <p:cNvPr id="9" name="text-qqtjbex">
            <a:extLst xmlns:a="http://schemas.openxmlformats.org/drawingml/2006/main">
              <a:ext uri="{FF2B5EF4-FFF2-40B4-BE49-F238E27FC236}">
                <a16:creationId xmlns:a16="http://schemas.microsoft.com/office/drawing/2014/main" id="{8AAA8E8D-0EF4-4EEF-B700-CA676B73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tenant · department</a:t>
            </a:r>
          </a:p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region · role · classification</a:t>
            </a:r>
          </a:p>
        </p:txBody>
      </p:sp>
      <p:sp>
        <p:nvSpPr>
          <p:cNvPr id="10" name="shape-ieiem7t">
            <a:extLst xmlns:a="http://schemas.openxmlformats.org/drawingml/2006/main">
              <a:ext uri="{FF2B5EF4-FFF2-40B4-BE49-F238E27FC236}">
                <a16:creationId xmlns:a16="http://schemas.microsoft.com/office/drawing/2014/main" id="{4C00FB6F-CFB2-4429-BC21-B6A9F4A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7500"/>
            <a:ext cx="2667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shape-cpkqqcy">
            <a:extLst xmlns:a="http://schemas.openxmlformats.org/drawingml/2006/main">
              <a:ext uri="{FF2B5EF4-FFF2-40B4-BE49-F238E27FC236}">
                <a16:creationId xmlns:a16="http://schemas.microsoft.com/office/drawing/2014/main" id="{37A7A132-6296-43E5-9227-5F5E4B6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2019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2" name="text-qtbyxm1">
            <a:extLst xmlns:a="http://schemas.openxmlformats.org/drawingml/2006/main">
              <a:ext uri="{FF2B5EF4-FFF2-40B4-BE49-F238E27FC236}">
                <a16:creationId xmlns:a16="http://schemas.microsoft.com/office/drawing/2014/main" id="{7DBB9CED-CFC7-4300-91AD-95363FD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765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Policy Engine</a:t>
            </a:r>
          </a:p>
        </p:txBody>
      </p:sp>
      <p:sp>
        <p:nvSpPr>
          <p:cNvPr id="13" name="text-hbn84hr">
            <a:extLst xmlns:a="http://schemas.openxmlformats.org/drawingml/2006/main">
              <a:ext uri="{FF2B5EF4-FFF2-40B4-BE49-F238E27FC236}">
                <a16:creationId xmlns:a16="http://schemas.microsoft.com/office/drawing/2014/main" id="{F30AF6BA-3E1A-4F77-AA10-4BE26501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0515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允许表 / 列 / 行</a:t>
            </a:r>
          </a:p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限额 / 导出策略</a:t>
            </a:r>
          </a:p>
        </p:txBody>
      </p:sp>
      <p:sp>
        <p:nvSpPr>
          <p:cNvPr id="14" name="shape-bcg55nq">
            <a:extLst xmlns:a="http://schemas.openxmlformats.org/drawingml/2006/main">
              <a:ext uri="{FF2B5EF4-FFF2-40B4-BE49-F238E27FC236}">
                <a16:creationId xmlns:a16="http://schemas.microsoft.com/office/drawing/2014/main" id="{36E194F9-07B7-4581-B6F3-257A4CC2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26670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shape-pluxmpp">
            <a:extLst xmlns:a="http://schemas.openxmlformats.org/drawingml/2006/main">
              <a:ext uri="{FF2B5EF4-FFF2-40B4-BE49-F238E27FC236}">
                <a16:creationId xmlns:a16="http://schemas.microsoft.com/office/drawing/2014/main" id="{78450BF4-C3E3-484E-A82D-77D44AE1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2019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16" name="text-0iyaokn">
            <a:extLst xmlns:a="http://schemas.openxmlformats.org/drawingml/2006/main">
              <a:ext uri="{FF2B5EF4-FFF2-40B4-BE49-F238E27FC236}">
                <a16:creationId xmlns:a16="http://schemas.microsoft.com/office/drawing/2014/main" id="{A3DA4083-0C94-4B92-82B0-E1DFD060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授权 Prompt</a:t>
            </a:r>
          </a:p>
        </p:txBody>
      </p:sp>
      <p:sp>
        <p:nvSpPr>
          <p:cNvPr id="17" name="text-jzfd94e">
            <a:extLst xmlns:a="http://schemas.openxmlformats.org/drawingml/2006/main">
              <a:ext uri="{FF2B5EF4-FFF2-40B4-BE49-F238E27FC236}">
                <a16:creationId xmlns:a16="http://schemas.microsoft.com/office/drawing/2014/main" id="{44FA7EE2-F7CC-4E73-9A6B-CD497B24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0515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只暴露允许的</a:t>
            </a:r>
          </a:p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Schema / Metric / Relation</a:t>
            </a:r>
          </a:p>
        </p:txBody>
      </p:sp>
      <p:sp>
        <p:nvSpPr>
          <p:cNvPr id="18" name="shape-bimw99g">
            <a:extLst xmlns:a="http://schemas.openxmlformats.org/drawingml/2006/main">
              <a:ext uri="{FF2B5EF4-FFF2-40B4-BE49-F238E27FC236}">
                <a16:creationId xmlns:a16="http://schemas.microsoft.com/office/drawing/2014/main" id="{76B9E6EB-69D4-447D-8923-419AEF9C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2019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9" name="text-h9iet5q">
            <a:extLst xmlns:a="http://schemas.openxmlformats.org/drawingml/2006/main">
              <a:ext uri="{FF2B5EF4-FFF2-40B4-BE49-F238E27FC236}">
                <a16:creationId xmlns:a16="http://schemas.microsoft.com/office/drawing/2014/main" id="{B5A34EFC-FF6B-4BDD-8450-E4C0268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765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SQL AST 重写</a:t>
            </a:r>
          </a:p>
        </p:txBody>
      </p:sp>
      <p:sp>
        <p:nvSpPr>
          <p:cNvPr id="20" name="text-ljtos87">
            <a:extLst xmlns:a="http://schemas.openxmlformats.org/drawingml/2006/main">
              <a:ext uri="{FF2B5EF4-FFF2-40B4-BE49-F238E27FC236}">
                <a16:creationId xmlns:a16="http://schemas.microsoft.com/office/drawing/2014/main" id="{9CB076AC-47C0-4095-A421-BC0DA36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0515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候选 SQL + 行策略</a:t>
            </a:r>
          </a:p>
          <a:p xmlns:a="http://schemas.openxmlformats.org/drawingml/2006/main">
            <a:pPr algn="ctr">
              <a:def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重写后再次校验</a:t>
            </a:r>
          </a:p>
        </p:txBody>
      </p:sp>
      <p:sp>
        <p:nvSpPr>
          <p:cNvPr id="21" name="shape-5g8llo8">
            <a:extLst xmlns:a="http://schemas.openxmlformats.org/drawingml/2006/main">
              <a:ext uri="{FF2B5EF4-FFF2-40B4-BE49-F238E27FC236}">
                <a16:creationId xmlns:a16="http://schemas.microsoft.com/office/drawing/2014/main" id="{40E95178-96DD-408C-B94F-A1260298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2857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57347"/>
          </a:solidFill>
          <a:ln xmlns:a="http://schemas.openxmlformats.org/drawingml/2006/main" w="0">
            <a:solidFill>
              <a:srgbClr val="157347"/>
            </a:solidFill>
            <a:prstDash val="solid"/>
          </a:ln>
        </p:spPr>
      </p:sp>
      <p:sp>
        <p:nvSpPr>
          <p:cNvPr id="22" name="shape-1bfwhmj">
            <a:extLst xmlns:a="http://schemas.openxmlformats.org/drawingml/2006/main">
              <a:ext uri="{FF2B5EF4-FFF2-40B4-BE49-F238E27FC236}">
                <a16:creationId xmlns:a16="http://schemas.microsoft.com/office/drawing/2014/main" id="{8C92830A-E379-4D01-9671-6C6AC365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90750"/>
            <a:ext cx="1047750" cy="1809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23" name="text-mtrqps8">
            <a:extLst xmlns:a="http://schemas.openxmlformats.org/drawingml/2006/main">
              <a:ext uri="{FF2B5EF4-FFF2-40B4-BE49-F238E27FC236}">
                <a16:creationId xmlns:a16="http://schemas.microsoft.com/office/drawing/2014/main" id="{095686D2-6715-4ADC-A4A8-67300FC6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67000"/>
            <a:ext cx="80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2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只读</a:t>
            </a:r>
          </a:p>
          <a:p xmlns:a="http://schemas.openxmlformats.org/drawingml/2006/main">
            <a:pPr algn="ctr">
              <a:def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24" name="shape-3un4e86">
            <a:extLst xmlns:a="http://schemas.openxmlformats.org/drawingml/2006/main">
              <a:ext uri="{FF2B5EF4-FFF2-40B4-BE49-F238E27FC236}">
                <a16:creationId xmlns:a16="http://schemas.microsoft.com/office/drawing/2014/main" id="{BA3175F8-826E-4739-8DE5-F0E3B2D2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text-p0o8jod">
            <a:extLst xmlns:a="http://schemas.openxmlformats.org/drawingml/2006/main">
              <a:ext uri="{FF2B5EF4-FFF2-40B4-BE49-F238E27FC236}">
                <a16:creationId xmlns:a16="http://schemas.microsoft.com/office/drawing/2014/main" id="{9808D4B8-2568-4FAF-9267-A3402020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结果后控制</a:t>
            </a:r>
          </a:p>
        </p:txBody>
      </p:sp>
      <p:sp>
        <p:nvSpPr>
          <p:cNvPr id="26" name="text-3kdazcl">
            <a:extLst xmlns:a="http://schemas.openxmlformats.org/drawingml/2006/main">
              <a:ext uri="{FF2B5EF4-FFF2-40B4-BE49-F238E27FC236}">
                <a16:creationId xmlns:a16="http://schemas.microsoft.com/office/drawing/2014/main" id="{B7346CB3-C15B-479A-AE16-1E34FA56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19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列级脱敏 → 行数复核 → 分类标签 → 下载审批 / 水印 → 审计</a:t>
            </a:r>
          </a:p>
        </p:txBody>
      </p:sp>
      <p:sp>
        <p:nvSpPr>
          <p:cNvPr id="27" name="text-ry1hg0q">
            <a:extLst xmlns:a="http://schemas.openxmlformats.org/drawingml/2006/main">
              <a:ext uri="{FF2B5EF4-FFF2-40B4-BE49-F238E27FC236}">
                <a16:creationId xmlns:a16="http://schemas.microsoft.com/office/drawing/2014/main" id="{BFED569F-4877-4F96-B092-DCA79FC5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关键原则：未授权对象不进入 Prompt；模型无法通过“猜表名”扩大权限。</a:t>
            </a:r>
          </a:p>
        </p:txBody>
      </p:sp>
    </p:spTree>
    <p:extLst>
      <p:ext uri="{BB962C8B-B14F-4D97-AF65-F5344CB8AC3E}">
        <p14:creationId xmlns:p14="http://schemas.microsoft.com/office/powerpoint/2010/main" val="685475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7d1i482">
            <a:extLst xmlns:a="http://schemas.openxmlformats.org/drawingml/2006/main">
              <a:ext uri="{FF2B5EF4-FFF2-40B4-BE49-F238E27FC236}">
                <a16:creationId xmlns:a16="http://schemas.microsoft.com/office/drawing/2014/main" id="{27A90149-48D9-4313-863A-0B22CB1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模型治理</a:t>
            </a:r>
          </a:p>
        </p:txBody>
      </p:sp>
      <p:sp>
        <p:nvSpPr>
          <p:cNvPr id="2" name="text-92y8pkx">
            <a:extLst xmlns:a="http://schemas.openxmlformats.org/drawingml/2006/main">
              <a:ext uri="{FF2B5EF4-FFF2-40B4-BE49-F238E27FC236}">
                <a16:creationId xmlns:a16="http://schemas.microsoft.com/office/drawing/2014/main" id="{D4D27C36-61D3-45EA-B922-8101F296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可控 AI = 输入、生成、执行、反馈、变更均可配置与回滚</a:t>
            </a:r>
          </a:p>
        </p:txBody>
      </p:sp>
      <p:sp>
        <p:nvSpPr>
          <p:cNvPr id="3" name="shape-866svw6">
            <a:extLst xmlns:a="http://schemas.openxmlformats.org/drawingml/2006/main">
              <a:ext uri="{FF2B5EF4-FFF2-40B4-BE49-F238E27FC236}">
                <a16:creationId xmlns:a16="http://schemas.microsoft.com/office/drawing/2014/main" id="{AB1D9244-3F44-4B53-9B11-1B806F8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ukq3w0l">
            <a:extLst xmlns:a="http://schemas.openxmlformats.org/drawingml/2006/main">
              <a:ext uri="{FF2B5EF4-FFF2-40B4-BE49-F238E27FC236}">
                <a16:creationId xmlns:a16="http://schemas.microsoft.com/office/drawing/2014/main" id="{119C97CF-E601-4719-8279-63E44F6A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r83ro9n">
            <a:extLst xmlns:a="http://schemas.openxmlformats.org/drawingml/2006/main">
              <a:ext uri="{FF2B5EF4-FFF2-40B4-BE49-F238E27FC236}">
                <a16:creationId xmlns:a16="http://schemas.microsoft.com/office/drawing/2014/main" id="{34289E98-DEC6-4FD5-9327-65BCBE3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text-e3se59z">
            <a:extLst xmlns:a="http://schemas.openxmlformats.org/drawingml/2006/main">
              <a:ext uri="{FF2B5EF4-FFF2-40B4-BE49-F238E27FC236}">
                <a16:creationId xmlns:a16="http://schemas.microsoft.com/office/drawing/2014/main" id="{0B964E7F-5CE2-4E77-87E4-918AC38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hape-b4wp7ak">
            <a:extLst xmlns:a="http://schemas.openxmlformats.org/drawingml/2006/main">
              <a:ext uri="{FF2B5EF4-FFF2-40B4-BE49-F238E27FC236}">
                <a16:creationId xmlns:a16="http://schemas.microsoft.com/office/drawing/2014/main" id="{A606D420-E9B9-4A2D-9865-948BAB6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ext-4p1vbdf">
            <a:extLst xmlns:a="http://schemas.openxmlformats.org/drawingml/2006/main">
              <a:ext uri="{FF2B5EF4-FFF2-40B4-BE49-F238E27FC236}">
                <a16:creationId xmlns:a16="http://schemas.microsoft.com/office/drawing/2014/main" id="{D03D76AF-FE5E-46A2-AC2A-FB30F57E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输入可控</a:t>
            </a:r>
          </a:p>
        </p:txBody>
      </p:sp>
      <p:sp>
        <p:nvSpPr>
          <p:cNvPr id="9" name="text-c7soph6">
            <a:extLst xmlns:a="http://schemas.openxmlformats.org/drawingml/2006/main">
              <a:ext uri="{FF2B5EF4-FFF2-40B4-BE49-F238E27FC236}">
                <a16:creationId xmlns:a16="http://schemas.microsoft.com/office/drawing/2014/main" id="{DFB623D2-51F8-4F76-B924-19A8806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授权上下文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已发布资产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TopK 与分类</a:t>
            </a:r>
          </a:p>
        </p:txBody>
      </p:sp>
      <p:sp>
        <p:nvSpPr>
          <p:cNvPr id="10" name="text-n3vyyk5">
            <a:extLst xmlns:a="http://schemas.openxmlformats.org/drawingml/2006/main">
              <a:ext uri="{FF2B5EF4-FFF2-40B4-BE49-F238E27FC236}">
                <a16:creationId xmlns:a16="http://schemas.microsoft.com/office/drawing/2014/main" id="{08A38D62-889D-43C9-B9A9-C0F29B6A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9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hape-ke2zwox">
            <a:extLst xmlns:a="http://schemas.openxmlformats.org/drawingml/2006/main">
              <a:ext uri="{FF2B5EF4-FFF2-40B4-BE49-F238E27FC236}">
                <a16:creationId xmlns:a16="http://schemas.microsoft.com/office/drawing/2014/main" id="{C2837489-4AA1-435A-8CD3-4B2488A9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669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0">
            <a:solidFill>
              <a:srgbClr val="7A5AF8"/>
            </a:solidFill>
            <a:prstDash val="solid"/>
          </a:ln>
        </p:spPr>
      </p:sp>
      <p:sp>
        <p:nvSpPr>
          <p:cNvPr id="12" name="text-lge5kbz">
            <a:extLst xmlns:a="http://schemas.openxmlformats.org/drawingml/2006/main">
              <a:ext uri="{FF2B5EF4-FFF2-40B4-BE49-F238E27FC236}">
                <a16:creationId xmlns:a16="http://schemas.microsoft.com/office/drawing/2014/main" id="{15F6EA7B-1017-4A18-BE99-7BDBAE8D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生成可控</a:t>
            </a:r>
          </a:p>
        </p:txBody>
      </p:sp>
      <p:sp>
        <p:nvSpPr>
          <p:cNvPr id="13" name="text-dtq9mo5">
            <a:extLst xmlns:a="http://schemas.openxmlformats.org/drawingml/2006/main">
              <a:ext uri="{FF2B5EF4-FFF2-40B4-BE49-F238E27FC236}">
                <a16:creationId xmlns:a16="http://schemas.microsoft.com/office/drawing/2014/main" id="{A1ADE4D7-4161-42D1-84AB-84D56EC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Prompt 版本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模型白名单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严格 JSON</a:t>
            </a:r>
          </a:p>
        </p:txBody>
      </p:sp>
      <p:sp>
        <p:nvSpPr>
          <p:cNvPr id="14" name="text-wifma2m">
            <a:extLst xmlns:a="http://schemas.openxmlformats.org/drawingml/2006/main">
              <a:ext uri="{FF2B5EF4-FFF2-40B4-BE49-F238E27FC236}">
                <a16:creationId xmlns:a16="http://schemas.microsoft.com/office/drawing/2014/main" id="{436F3503-22EA-428E-AED7-DABF2C9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shape-n6ujcii">
            <a:extLst xmlns:a="http://schemas.openxmlformats.org/drawingml/2006/main">
              <a:ext uri="{FF2B5EF4-FFF2-40B4-BE49-F238E27FC236}">
                <a16:creationId xmlns:a16="http://schemas.microsoft.com/office/drawing/2014/main" id="{4F3529A4-03DE-4CD9-A4CC-22A0478E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6" name="text-3iiief6">
            <a:extLst xmlns:a="http://schemas.openxmlformats.org/drawingml/2006/main">
              <a:ext uri="{FF2B5EF4-FFF2-40B4-BE49-F238E27FC236}">
                <a16:creationId xmlns:a16="http://schemas.microsoft.com/office/drawing/2014/main" id="{4508156F-2A4F-4F4B-9900-251E3A35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098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执行可控</a:t>
            </a:r>
          </a:p>
        </p:txBody>
      </p:sp>
      <p:sp>
        <p:nvSpPr>
          <p:cNvPr id="17" name="text-io7yndd">
            <a:extLst xmlns:a="http://schemas.openxmlformats.org/drawingml/2006/main">
              <a:ext uri="{FF2B5EF4-FFF2-40B4-BE49-F238E27FC236}">
                <a16:creationId xmlns:a16="http://schemas.microsoft.com/office/drawing/2014/main" id="{93445310-6C65-4493-AD39-EB9726DD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SQL AST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只读账号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成本/超时/行数</a:t>
            </a:r>
          </a:p>
        </p:txBody>
      </p:sp>
      <p:sp>
        <p:nvSpPr>
          <p:cNvPr id="18" name="text-ofhn7pv">
            <a:extLst xmlns:a="http://schemas.openxmlformats.org/drawingml/2006/main">
              <a:ext uri="{FF2B5EF4-FFF2-40B4-BE49-F238E27FC236}">
                <a16:creationId xmlns:a16="http://schemas.microsoft.com/office/drawing/2014/main" id="{1725DE4E-45E2-4A13-8A51-5C7BE2BA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shape-szmevg1">
            <a:extLst xmlns:a="http://schemas.openxmlformats.org/drawingml/2006/main">
              <a:ext uri="{FF2B5EF4-FFF2-40B4-BE49-F238E27FC236}">
                <a16:creationId xmlns:a16="http://schemas.microsoft.com/office/drawing/2014/main" id="{8DAA7AFA-E368-4928-B973-D314F715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347"/>
          </a:solidFill>
          <a:ln xmlns:a="http://schemas.openxmlformats.org/drawingml/2006/main" w="0">
            <a:solidFill>
              <a:srgbClr val="157347"/>
            </a:solidFill>
            <a:prstDash val="solid"/>
          </a:ln>
        </p:spPr>
      </p:sp>
      <p:sp>
        <p:nvSpPr>
          <p:cNvPr id="20" name="text-gx3fycj">
            <a:extLst xmlns:a="http://schemas.openxmlformats.org/drawingml/2006/main">
              <a:ext uri="{FF2B5EF4-FFF2-40B4-BE49-F238E27FC236}">
                <a16:creationId xmlns:a16="http://schemas.microsoft.com/office/drawing/2014/main" id="{FD5A952F-F922-465A-9046-2DDC7FE3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反馈可控</a:t>
            </a:r>
          </a:p>
        </p:txBody>
      </p:sp>
      <p:sp>
        <p:nvSpPr>
          <p:cNvPr id="21" name="text-z0m7qpg">
            <a:extLst xmlns:a="http://schemas.openxmlformats.org/drawingml/2006/main">
              <a:ext uri="{FF2B5EF4-FFF2-40B4-BE49-F238E27FC236}">
                <a16:creationId xmlns:a16="http://schemas.microsoft.com/office/drawing/2014/main" id="{6C46DB35-D1F5-49FB-AC05-9C7B337A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确认后导出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负向进草稿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人工发布</a:t>
            </a:r>
          </a:p>
        </p:txBody>
      </p:sp>
      <p:sp>
        <p:nvSpPr>
          <p:cNvPr id="22" name="text-27rfxn6">
            <a:extLst xmlns:a="http://schemas.openxmlformats.org/drawingml/2006/main">
              <a:ext uri="{FF2B5EF4-FFF2-40B4-BE49-F238E27FC236}">
                <a16:creationId xmlns:a16="http://schemas.microsoft.com/office/drawing/2014/main" id="{FFD0A70E-0742-4A1B-A2D4-58E9C110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shape-2glxjiz">
            <a:extLst xmlns:a="http://schemas.openxmlformats.org/drawingml/2006/main">
              <a:ext uri="{FF2B5EF4-FFF2-40B4-BE49-F238E27FC236}">
                <a16:creationId xmlns:a16="http://schemas.microsoft.com/office/drawing/2014/main" id="{FDC67455-B746-4134-B84B-7360E0A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885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solidFill>
              <a:srgbClr val="9A6700"/>
            </a:solidFill>
            <a:prstDash val="solid"/>
          </a:ln>
        </p:spPr>
      </p:sp>
      <p:sp>
        <p:nvSpPr>
          <p:cNvPr id="24" name="text-finp3e3">
            <a:extLst xmlns:a="http://schemas.openxmlformats.org/drawingml/2006/main">
              <a:ext uri="{FF2B5EF4-FFF2-40B4-BE49-F238E27FC236}">
                <a16:creationId xmlns:a16="http://schemas.microsoft.com/office/drawing/2014/main" id="{433BD8A8-3733-4094-A2D4-E71892BD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变更可控</a:t>
            </a:r>
          </a:p>
        </p:txBody>
      </p:sp>
      <p:sp>
        <p:nvSpPr>
          <p:cNvPr id="25" name="text-pglr6nr">
            <a:extLst xmlns:a="http://schemas.openxmlformats.org/drawingml/2006/main">
              <a:ext uri="{FF2B5EF4-FFF2-40B4-BE49-F238E27FC236}">
                <a16:creationId xmlns:a16="http://schemas.microsoft.com/office/drawing/2014/main" id="{2055EF37-DA49-45D2-AC7E-2BFF915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黄金集回归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影子评估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灰度与回滚</a:t>
            </a:r>
          </a:p>
        </p:txBody>
      </p:sp>
      <p:sp>
        <p:nvSpPr>
          <p:cNvPr id="26" name="shape-zjxk56s">
            <a:extLst xmlns:a="http://schemas.openxmlformats.org/drawingml/2006/main">
              <a:ext uri="{FF2B5EF4-FFF2-40B4-BE49-F238E27FC236}">
                <a16:creationId xmlns:a16="http://schemas.microsoft.com/office/drawing/2014/main" id="{E20436A1-7DF0-4636-9AEA-AF66D2BB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7" name="text-e9fnjc7">
            <a:extLst xmlns:a="http://schemas.openxmlformats.org/drawingml/2006/main">
              <a:ext uri="{FF2B5EF4-FFF2-40B4-BE49-F238E27FC236}">
                <a16:creationId xmlns:a16="http://schemas.microsoft.com/office/drawing/2014/main" id="{0FAB541B-9F1C-4149-94B4-B918329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模型输出始终视为不可信输入</a:t>
            </a:r>
          </a:p>
        </p:txBody>
      </p:sp>
      <p:sp>
        <p:nvSpPr>
          <p:cNvPr id="28" name="text-9ggp8iy">
            <a:extLst xmlns:a="http://schemas.openxmlformats.org/drawingml/2006/main">
              <a:ext uri="{FF2B5EF4-FFF2-40B4-BE49-F238E27FC236}">
                <a16:creationId xmlns:a16="http://schemas.microsoft.com/office/drawing/2014/main" id="{679CA6D8-EDE3-4C87-8897-1944900B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387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置信度只用于提示，不作为授权或绕过门禁的依据。</a:t>
            </a:r>
          </a:p>
        </p:txBody>
      </p:sp>
    </p:spTree>
    <p:extLst>
      <p:ext uri="{BB962C8B-B14F-4D97-AF65-F5344CB8AC3E}">
        <p14:creationId xmlns:p14="http://schemas.microsoft.com/office/powerpoint/2010/main" val="12009928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py8p1y">
            <a:extLst xmlns:a="http://schemas.openxmlformats.org/drawingml/2006/main">
              <a:ext uri="{FF2B5EF4-FFF2-40B4-BE49-F238E27FC236}">
                <a16:creationId xmlns:a16="http://schemas.microsoft.com/office/drawing/2014/main" id="{DBCEC3A6-884D-46A1-BFF6-E78425A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审计与可解释性</a:t>
            </a:r>
          </a:p>
        </p:txBody>
      </p:sp>
      <p:sp>
        <p:nvSpPr>
          <p:cNvPr id="2" name="text-j1qvfty">
            <a:extLst xmlns:a="http://schemas.openxmlformats.org/drawingml/2006/main">
              <a:ext uri="{FF2B5EF4-FFF2-40B4-BE49-F238E27FC236}">
                <a16:creationId xmlns:a16="http://schemas.microsoft.com/office/drawing/2014/main" id="{7651D7FF-135F-4CCA-BDD2-655CB972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每一次回答都应能够还原：谁、用什么知识、让哪个模型、查了什么</a:t>
            </a:r>
          </a:p>
        </p:txBody>
      </p:sp>
      <p:sp>
        <p:nvSpPr>
          <p:cNvPr id="3" name="shape-3n38j13">
            <a:extLst xmlns:a="http://schemas.openxmlformats.org/drawingml/2006/main">
              <a:ext uri="{FF2B5EF4-FFF2-40B4-BE49-F238E27FC236}">
                <a16:creationId xmlns:a16="http://schemas.microsoft.com/office/drawing/2014/main" id="{BFA0FC29-B76F-4380-9BF6-04EE0A7C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w4et977">
            <a:extLst xmlns:a="http://schemas.openxmlformats.org/drawingml/2006/main">
              <a:ext uri="{FF2B5EF4-FFF2-40B4-BE49-F238E27FC236}">
                <a16:creationId xmlns:a16="http://schemas.microsoft.com/office/drawing/2014/main" id="{40395B0C-A305-4954-85EE-9065415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lnilx4y">
            <a:extLst xmlns:a="http://schemas.openxmlformats.org/drawingml/2006/main">
              <a:ext uri="{FF2B5EF4-FFF2-40B4-BE49-F238E27FC236}">
                <a16:creationId xmlns:a16="http://schemas.microsoft.com/office/drawing/2014/main" id="{B2704398-9D74-42CC-9480-67BEF36C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text-ebk20uc">
            <a:extLst xmlns:a="http://schemas.openxmlformats.org/drawingml/2006/main">
              <a:ext uri="{FF2B5EF4-FFF2-40B4-BE49-F238E27FC236}">
                <a16:creationId xmlns:a16="http://schemas.microsoft.com/office/drawing/2014/main" id="{DC819BDF-F55F-4CC1-8942-073FA51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811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qq9if57">
            <a:extLst xmlns:a="http://schemas.openxmlformats.org/drawingml/2006/main">
              <a:ext uri="{FF2B5EF4-FFF2-40B4-BE49-F238E27FC236}">
                <a16:creationId xmlns:a16="http://schemas.microsoft.com/office/drawing/2014/main" id="{D8FB3E25-3898-467B-A58D-6F02DD6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8" name="shape-zxn1z95">
            <a:extLst xmlns:a="http://schemas.openxmlformats.org/drawingml/2006/main">
              <a:ext uri="{FF2B5EF4-FFF2-40B4-BE49-F238E27FC236}">
                <a16:creationId xmlns:a16="http://schemas.microsoft.com/office/drawing/2014/main" id="{01C224F5-87A7-4F7B-9055-A0BAB450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145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text-scl7qav">
            <a:extLst xmlns:a="http://schemas.openxmlformats.org/drawingml/2006/main">
              <a:ext uri="{FF2B5EF4-FFF2-40B4-BE49-F238E27FC236}">
                <a16:creationId xmlns:a16="http://schemas.microsoft.com/office/drawing/2014/main" id="{4EFC7FB4-5FC1-42FA-833D-658D7497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430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user / tenant / role / domain</a:t>
            </a:r>
          </a:p>
        </p:txBody>
      </p:sp>
      <p:sp>
        <p:nvSpPr>
          <p:cNvPr id="10" name="text-qn503y0">
            <a:extLst xmlns:a="http://schemas.openxmlformats.org/drawingml/2006/main">
              <a:ext uri="{FF2B5EF4-FFF2-40B4-BE49-F238E27FC236}">
                <a16:creationId xmlns:a16="http://schemas.microsoft.com/office/drawing/2014/main" id="{210F7B6F-BC85-479B-A626-7F81BE1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v03q66u">
            <a:extLst xmlns:a="http://schemas.openxmlformats.org/drawingml/2006/main">
              <a:ext uri="{FF2B5EF4-FFF2-40B4-BE49-F238E27FC236}">
                <a16:creationId xmlns:a16="http://schemas.microsoft.com/office/drawing/2014/main" id="{CB52FC3C-A174-47C8-859D-AF6EF1B4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812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2" name="shape-5702005">
            <a:extLst xmlns:a="http://schemas.openxmlformats.org/drawingml/2006/main">
              <a:ext uri="{FF2B5EF4-FFF2-40B4-BE49-F238E27FC236}">
                <a16:creationId xmlns:a16="http://schemas.microsoft.com/office/drawing/2014/main" id="{E121348F-BBD7-4649-84E6-ADE6D79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527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text-x79xduh">
            <a:extLst xmlns:a="http://schemas.openxmlformats.org/drawingml/2006/main">
              <a:ext uri="{FF2B5EF4-FFF2-40B4-BE49-F238E27FC236}">
                <a16:creationId xmlns:a16="http://schemas.microsoft.com/office/drawing/2014/main" id="{B97DAFF3-CCF0-4A0B-AFB5-4567D437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812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知识片段 / 指标 / 关系 / 标准 SQL 版本</a:t>
            </a:r>
          </a:p>
        </p:txBody>
      </p:sp>
      <p:sp>
        <p:nvSpPr>
          <p:cNvPr id="14" name="text-oguvuqr">
            <a:extLst xmlns:a="http://schemas.openxmlformats.org/drawingml/2006/main">
              <a:ext uri="{FF2B5EF4-FFF2-40B4-BE49-F238E27FC236}">
                <a16:creationId xmlns:a16="http://schemas.microsoft.com/office/drawing/2014/main" id="{B05F0EF3-E390-46B7-A745-6D744230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x3afobk">
            <a:extLst xmlns:a="http://schemas.openxmlformats.org/drawingml/2006/main">
              <a:ext uri="{FF2B5EF4-FFF2-40B4-BE49-F238E27FC236}">
                <a16:creationId xmlns:a16="http://schemas.microsoft.com/office/drawing/2014/main" id="{AB889DA5-B7FA-4104-BC9C-36BC6E74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194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6" name="shape-qj1metq">
            <a:extLst xmlns:a="http://schemas.openxmlformats.org/drawingml/2006/main">
              <a:ext uri="{FF2B5EF4-FFF2-40B4-BE49-F238E27FC236}">
                <a16:creationId xmlns:a16="http://schemas.microsoft.com/office/drawing/2014/main" id="{581D1325-B325-49B1-A432-F2899231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909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text-lcphzqs">
            <a:extLst xmlns:a="http://schemas.openxmlformats.org/drawingml/2006/main">
              <a:ext uri="{FF2B5EF4-FFF2-40B4-BE49-F238E27FC236}">
                <a16:creationId xmlns:a16="http://schemas.microsoft.com/office/drawing/2014/main" id="{DBE316F2-D349-4E9D-96C7-0B2191AE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194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provider / model / prompt 版本 / 置信度</a:t>
            </a:r>
          </a:p>
        </p:txBody>
      </p:sp>
      <p:sp>
        <p:nvSpPr>
          <p:cNvPr id="18" name="text-hkz1pb0">
            <a:extLst xmlns:a="http://schemas.openxmlformats.org/drawingml/2006/main">
              <a:ext uri="{FF2B5EF4-FFF2-40B4-BE49-F238E27FC236}">
                <a16:creationId xmlns:a16="http://schemas.microsoft.com/office/drawing/2014/main" id="{1C7A066B-CDC7-41D1-8636-681CF1F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tleayrq">
            <a:extLst xmlns:a="http://schemas.openxmlformats.org/drawingml/2006/main">
              <a:ext uri="{FF2B5EF4-FFF2-40B4-BE49-F238E27FC236}">
                <a16:creationId xmlns:a16="http://schemas.microsoft.com/office/drawing/2014/main" id="{F2BB9CF8-5903-434F-ADC5-9F9EC7B0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576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0" name="shape-q1rbysu">
            <a:extLst xmlns:a="http://schemas.openxmlformats.org/drawingml/2006/main">
              <a:ext uri="{FF2B5EF4-FFF2-40B4-BE49-F238E27FC236}">
                <a16:creationId xmlns:a16="http://schemas.microsoft.com/office/drawing/2014/main" id="{64EF8757-5064-4E17-8DA6-09F951D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29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text-zykc0o1">
            <a:extLst xmlns:a="http://schemas.openxmlformats.org/drawingml/2006/main">
              <a:ext uri="{FF2B5EF4-FFF2-40B4-BE49-F238E27FC236}">
                <a16:creationId xmlns:a16="http://schemas.microsoft.com/office/drawing/2014/main" id="{026A79A8-67CA-4DAE-BE68-59802CD7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576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SQL / 表集合 / 策略快照 / 耗时 / 行数</a:t>
            </a:r>
          </a:p>
        </p:txBody>
      </p:sp>
      <p:sp>
        <p:nvSpPr>
          <p:cNvPr id="22" name="text-j2m8ssj">
            <a:extLst xmlns:a="http://schemas.openxmlformats.org/drawingml/2006/main">
              <a:ext uri="{FF2B5EF4-FFF2-40B4-BE49-F238E27FC236}">
                <a16:creationId xmlns:a16="http://schemas.microsoft.com/office/drawing/2014/main" id="{7516780E-F9D9-4619-8D4F-074A2BF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text-oy09770">
            <a:extLst xmlns:a="http://schemas.openxmlformats.org/drawingml/2006/main">
              <a:ext uri="{FF2B5EF4-FFF2-40B4-BE49-F238E27FC236}">
                <a16:creationId xmlns:a16="http://schemas.microsoft.com/office/drawing/2014/main" id="{D2C223E7-903D-482B-8D18-23AEE2E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4" name="shape-0hd3mfq">
            <a:extLst xmlns:a="http://schemas.openxmlformats.org/drawingml/2006/main">
              <a:ext uri="{FF2B5EF4-FFF2-40B4-BE49-F238E27FC236}">
                <a16:creationId xmlns:a16="http://schemas.microsoft.com/office/drawing/2014/main" id="{5B721289-86E6-46C3-9931-D50C567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673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5" name="text-tx893hj">
            <a:extLst xmlns:a="http://schemas.openxmlformats.org/drawingml/2006/main">
              <a:ext uri="{FF2B5EF4-FFF2-40B4-BE49-F238E27FC236}">
                <a16:creationId xmlns:a16="http://schemas.microsoft.com/office/drawing/2014/main" id="{05214D31-3148-4A2B-9185-9BA5517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9587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结果快照 / 反馈 / 修正 / 导出格式</a:t>
            </a:r>
          </a:p>
        </p:txBody>
      </p:sp>
      <p:sp>
        <p:nvSpPr>
          <p:cNvPr id="26" name="text-fubfkvi">
            <a:extLst xmlns:a="http://schemas.openxmlformats.org/drawingml/2006/main">
              <a:ext uri="{FF2B5EF4-FFF2-40B4-BE49-F238E27FC236}">
                <a16:creationId xmlns:a16="http://schemas.microsoft.com/office/drawing/2014/main" id="{7B28688A-066A-4164-A057-54F51ED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05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当前 audit_event 已记录查询和导出；生产目标使用可靠事件 + 不可变审计存储。</a:t>
            </a:r>
          </a:p>
        </p:txBody>
      </p:sp>
    </p:spTree>
    <p:extLst>
      <p:ext uri="{BB962C8B-B14F-4D97-AF65-F5344CB8AC3E}">
        <p14:creationId xmlns:p14="http://schemas.microsoft.com/office/powerpoint/2010/main" val="1668514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znb7eri">
            <a:extLst xmlns:a="http://schemas.openxmlformats.org/drawingml/2006/main">
              <a:ext uri="{FF2B5EF4-FFF2-40B4-BE49-F238E27FC236}">
                <a16:creationId xmlns:a16="http://schemas.microsoft.com/office/drawing/2014/main" id="{55B371E5-CEB0-4AE6-9C94-B66BA78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部署与网络边界</a:t>
            </a:r>
          </a:p>
        </p:txBody>
      </p:sp>
      <p:sp>
        <p:nvSpPr>
          <p:cNvPr id="2" name="text-fztinda">
            <a:extLst xmlns:a="http://schemas.openxmlformats.org/drawingml/2006/main">
              <a:ext uri="{FF2B5EF4-FFF2-40B4-BE49-F238E27FC236}">
                <a16:creationId xmlns:a16="http://schemas.microsoft.com/office/drawing/2014/main" id="{41B6E646-9DA9-4967-B9AC-4E4AEF82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无外网部署不要求 Ollama：内网模型网关可直接替换模型提供方</a:t>
            </a:r>
          </a:p>
        </p:txBody>
      </p:sp>
      <p:sp>
        <p:nvSpPr>
          <p:cNvPr id="3" name="shape-fih6pw7">
            <a:extLst xmlns:a="http://schemas.openxmlformats.org/drawingml/2006/main">
              <a:ext uri="{FF2B5EF4-FFF2-40B4-BE49-F238E27FC236}">
                <a16:creationId xmlns:a16="http://schemas.microsoft.com/office/drawing/2014/main" id="{C23D5BB5-0698-4905-9C19-97F3E5D8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tzxgpzu">
            <a:extLst xmlns:a="http://schemas.openxmlformats.org/drawingml/2006/main">
              <a:ext uri="{FF2B5EF4-FFF2-40B4-BE49-F238E27FC236}">
                <a16:creationId xmlns:a16="http://schemas.microsoft.com/office/drawing/2014/main" id="{96729314-C140-4259-A274-0B1E06CE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g7h88rs">
            <a:extLst xmlns:a="http://schemas.openxmlformats.org/drawingml/2006/main">
              <a:ext uri="{FF2B5EF4-FFF2-40B4-BE49-F238E27FC236}">
                <a16:creationId xmlns:a16="http://schemas.microsoft.com/office/drawing/2014/main" id="{B86F2A93-CE9C-4F65-9B40-2C0E4CA3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shape-paxjjvd">
            <a:extLst xmlns:a="http://schemas.openxmlformats.org/drawingml/2006/main">
              <a:ext uri="{FF2B5EF4-FFF2-40B4-BE49-F238E27FC236}">
                <a16:creationId xmlns:a16="http://schemas.microsoft.com/office/drawing/2014/main" id="{EB5BC0D5-3D26-45DC-BB1C-EA19862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765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hape-3io44kk">
            <a:extLst xmlns:a="http://schemas.openxmlformats.org/drawingml/2006/main">
              <a:ext uri="{FF2B5EF4-FFF2-40B4-BE49-F238E27FC236}">
                <a16:creationId xmlns:a16="http://schemas.microsoft.com/office/drawing/2014/main" id="{7683DF06-9C78-4B40-99BA-8EC84CE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981200" cy="2190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text-tc2s6z8">
            <a:extLst xmlns:a="http://schemas.openxmlformats.org/drawingml/2006/main">
              <a:ext uri="{FF2B5EF4-FFF2-40B4-BE49-F238E27FC236}">
                <a16:creationId xmlns:a16="http://schemas.microsoft.com/office/drawing/2014/main" id="{83D3798C-CE46-4869-A509-E700FC70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用户访问区</a:t>
            </a:r>
          </a:p>
        </p:txBody>
      </p:sp>
      <p:sp>
        <p:nvSpPr>
          <p:cNvPr id="9" name="text-gkyhjcs">
            <a:extLst xmlns:a="http://schemas.openxmlformats.org/drawingml/2006/main">
              <a:ext uri="{FF2B5EF4-FFF2-40B4-BE49-F238E27FC236}">
                <a16:creationId xmlns:a16="http://schemas.microsoft.com/office/drawing/2014/main" id="{ABCAC8C9-3684-4F09-B806-21F11122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Browser</a:t>
            </a:r>
          </a:p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内网门户</a:t>
            </a:r>
          </a:p>
        </p:txBody>
      </p:sp>
      <p:sp>
        <p:nvSpPr>
          <p:cNvPr id="10" name="shape-yuiemar">
            <a:extLst xmlns:a="http://schemas.openxmlformats.org/drawingml/2006/main">
              <a:ext uri="{FF2B5EF4-FFF2-40B4-BE49-F238E27FC236}">
                <a16:creationId xmlns:a16="http://schemas.microsoft.com/office/drawing/2014/main" id="{713E91A0-6612-4253-BC4F-157AFCC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shape-2ol13cv">
            <a:extLst xmlns:a="http://schemas.openxmlformats.org/drawingml/2006/main">
              <a:ext uri="{FF2B5EF4-FFF2-40B4-BE49-F238E27FC236}">
                <a16:creationId xmlns:a16="http://schemas.microsoft.com/office/drawing/2014/main" id="{4A0C2FAA-8E9C-4821-AFF5-D796AD0E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1981200" cy="2190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12" name="text-2qis06w">
            <a:extLst xmlns:a="http://schemas.openxmlformats.org/drawingml/2006/main">
              <a:ext uri="{FF2B5EF4-FFF2-40B4-BE49-F238E27FC236}">
                <a16:creationId xmlns:a16="http://schemas.microsoft.com/office/drawing/2014/main" id="{E2DB9459-9FD2-41C6-AE73-11B6DF3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应用区</a:t>
            </a:r>
          </a:p>
        </p:txBody>
      </p:sp>
      <p:sp>
        <p:nvSpPr>
          <p:cNvPr id="13" name="text-ylvlizi">
            <a:extLst xmlns:a="http://schemas.openxmlformats.org/drawingml/2006/main">
              <a:ext uri="{FF2B5EF4-FFF2-40B4-BE49-F238E27FC236}">
                <a16:creationId xmlns:a16="http://schemas.microsoft.com/office/drawing/2014/main" id="{4D8FA7AC-C103-4380-ADCF-43F74A97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Node 静态服务</a:t>
            </a:r>
          </a:p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4" name="shape-modyzo9">
            <a:extLst xmlns:a="http://schemas.openxmlformats.org/drawingml/2006/main">
              <a:ext uri="{FF2B5EF4-FFF2-40B4-BE49-F238E27FC236}">
                <a16:creationId xmlns:a16="http://schemas.microsoft.com/office/drawing/2014/main" id="{3A15EE59-A75D-4252-9B97-178C848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shape-4anzc5j">
            <a:extLst xmlns:a="http://schemas.openxmlformats.org/drawingml/2006/main">
              <a:ext uri="{FF2B5EF4-FFF2-40B4-BE49-F238E27FC236}">
                <a16:creationId xmlns:a16="http://schemas.microsoft.com/office/drawing/2014/main" id="{A475110B-02AC-47B1-855D-8CAED503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1981200" cy="2190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4CE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6" name="text-dd8ntgy">
            <a:extLst xmlns:a="http://schemas.openxmlformats.org/drawingml/2006/main">
              <a:ext uri="{FF2B5EF4-FFF2-40B4-BE49-F238E27FC236}">
                <a16:creationId xmlns:a16="http://schemas.microsoft.com/office/drawing/2014/main" id="{82EFD816-A2BB-4908-BDDC-A286228A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AI 服务区</a:t>
            </a:r>
          </a:p>
        </p:txBody>
      </p:sp>
      <p:sp>
        <p:nvSpPr>
          <p:cNvPr id="17" name="text-0fws3xa">
            <a:extLst xmlns:a="http://schemas.openxmlformats.org/drawingml/2006/main">
              <a:ext uri="{FF2B5EF4-FFF2-40B4-BE49-F238E27FC236}">
                <a16:creationId xmlns:a16="http://schemas.microsoft.com/office/drawing/2014/main" id="{D614A3B4-FD8A-4F07-879E-BBE5306C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670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内网 Chat / Embedding</a:t>
            </a:r>
          </a:p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Qdrant</a:t>
            </a:r>
          </a:p>
        </p:txBody>
      </p:sp>
      <p:sp>
        <p:nvSpPr>
          <p:cNvPr id="18" name="shape-de515r4">
            <a:extLst xmlns:a="http://schemas.openxmlformats.org/drawingml/2006/main">
              <a:ext uri="{FF2B5EF4-FFF2-40B4-BE49-F238E27FC236}">
                <a16:creationId xmlns:a16="http://schemas.microsoft.com/office/drawing/2014/main" id="{920B092E-9B36-42B7-901C-5573B8D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765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shape-wuzvymv">
            <a:extLst xmlns:a="http://schemas.openxmlformats.org/drawingml/2006/main">
              <a:ext uri="{FF2B5EF4-FFF2-40B4-BE49-F238E27FC236}">
                <a16:creationId xmlns:a16="http://schemas.microsoft.com/office/drawing/2014/main" id="{F04B5E0B-A9B2-4BA4-B35E-CB46D66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1981200" cy="2190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0" name="text-o6p6y6p">
            <a:extLst xmlns:a="http://schemas.openxmlformats.org/drawingml/2006/main">
              <a:ext uri="{FF2B5EF4-FFF2-40B4-BE49-F238E27FC236}">
                <a16:creationId xmlns:a16="http://schemas.microsoft.com/office/drawing/2014/main" id="{5311E5C2-1C19-463F-ABF4-6466F38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数据区</a:t>
            </a:r>
          </a:p>
        </p:txBody>
      </p:sp>
      <p:sp>
        <p:nvSpPr>
          <p:cNvPr id="21" name="text-irb7oe6">
            <a:extLst xmlns:a="http://schemas.openxmlformats.org/drawingml/2006/main">
              <a:ext uri="{FF2B5EF4-FFF2-40B4-BE49-F238E27FC236}">
                <a16:creationId xmlns:a16="http://schemas.microsoft.com/office/drawing/2014/main" id="{27FBD9CD-C000-44D0-A7F6-D00ED50F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670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Oracle 平台库</a:t>
            </a:r>
          </a:p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业务只读视图</a:t>
            </a:r>
          </a:p>
        </p:txBody>
      </p:sp>
      <p:sp>
        <p:nvSpPr>
          <p:cNvPr id="22" name="shape-v0cszxd">
            <a:extLst xmlns:a="http://schemas.openxmlformats.org/drawingml/2006/main">
              <a:ext uri="{FF2B5EF4-FFF2-40B4-BE49-F238E27FC236}">
                <a16:creationId xmlns:a16="http://schemas.microsoft.com/office/drawing/2014/main" id="{22CB065F-0A0D-4E37-8517-688AA941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1981200" cy="21907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3" name="text-i4an1r2">
            <a:extLst xmlns:a="http://schemas.openxmlformats.org/drawingml/2006/main">
              <a:ext uri="{FF2B5EF4-FFF2-40B4-BE49-F238E27FC236}">
                <a16:creationId xmlns:a16="http://schemas.microsoft.com/office/drawing/2014/main" id="{E0376142-C2F7-417A-A02A-C04280F3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运维区</a:t>
            </a:r>
          </a:p>
        </p:txBody>
      </p:sp>
      <p:sp>
        <p:nvSpPr>
          <p:cNvPr id="24" name="text-gwz2zen">
            <a:extLst xmlns:a="http://schemas.openxmlformats.org/drawingml/2006/main">
              <a:ext uri="{FF2B5EF4-FFF2-40B4-BE49-F238E27FC236}">
                <a16:creationId xmlns:a16="http://schemas.microsoft.com/office/drawing/2014/main" id="{1C8239ED-1726-453C-BE31-293FCF9D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670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日志 / 监控</a:t>
            </a:r>
          </a:p>
          <a:p xmlns:a="http://schemas.openxmlformats.org/drawingml/2006/main">
            <a:pPr algn="ctr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制品 / 备份</a:t>
            </a:r>
          </a:p>
        </p:txBody>
      </p:sp>
      <p:sp>
        <p:nvSpPr>
          <p:cNvPr id="25" name="shape-3kmr01y">
            <a:extLst xmlns:a="http://schemas.openxmlformats.org/drawingml/2006/main">
              <a:ext uri="{FF2B5EF4-FFF2-40B4-BE49-F238E27FC236}">
                <a16:creationId xmlns:a16="http://schemas.microsoft.com/office/drawing/2014/main" id="{6D7AFE1C-00B1-4CD8-AAFA-EE61C0A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542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-3ypzbg7">
            <a:extLst xmlns:a="http://schemas.openxmlformats.org/drawingml/2006/main">
              <a:ext uri="{FF2B5EF4-FFF2-40B4-BE49-F238E27FC236}">
                <a16:creationId xmlns:a16="http://schemas.microsoft.com/office/drawing/2014/main" id="{F98D78A3-4C48-4399-BDFA-F689686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Windows</a:t>
            </a:r>
          </a:p>
        </p:txBody>
      </p:sp>
      <p:sp>
        <p:nvSpPr>
          <p:cNvPr id="27" name="text-e3s94an">
            <a:extLst xmlns:a="http://schemas.openxmlformats.org/drawingml/2006/main">
              <a:ext uri="{FF2B5EF4-FFF2-40B4-BE49-F238E27FC236}">
                <a16:creationId xmlns:a16="http://schemas.microsoft.com/office/drawing/2014/main" id="{0F420DED-402F-4C5B-A0F1-597D6B77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JDK 17 · Oracle 19c · Qdrant · JAR · Node 静态服务</a:t>
            </a:r>
          </a:p>
        </p:txBody>
      </p:sp>
      <p:sp>
        <p:nvSpPr>
          <p:cNvPr id="28" name="shape-1kwqh4w">
            <a:extLst xmlns:a="http://schemas.openxmlformats.org/drawingml/2006/main">
              <a:ext uri="{FF2B5EF4-FFF2-40B4-BE49-F238E27FC236}">
                <a16:creationId xmlns:a16="http://schemas.microsoft.com/office/drawing/2014/main" id="{76D4B151-D160-4FEF-BAC6-EE3FA64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542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6sdfhbw">
            <a:extLst xmlns:a="http://schemas.openxmlformats.org/drawingml/2006/main">
              <a:ext uri="{FF2B5EF4-FFF2-40B4-BE49-F238E27FC236}">
                <a16:creationId xmlns:a16="http://schemas.microsoft.com/office/drawing/2014/main" id="{77FF5078-630A-4E81-89FE-30F2C0CB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CentOS 7</a:t>
            </a:r>
          </a:p>
        </p:txBody>
      </p:sp>
      <p:sp>
        <p:nvSpPr>
          <p:cNvPr id="30" name="text-kv2okk9">
            <a:extLst xmlns:a="http://schemas.openxmlformats.org/drawingml/2006/main">
              <a:ext uri="{FF2B5EF4-FFF2-40B4-BE49-F238E27FC236}">
                <a16:creationId xmlns:a16="http://schemas.microsoft.com/office/drawing/2014/main" id="{658CB2DB-8246-4F12-8FEB-F768F5E4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JDK 17 · Qdrant 二进制 · systemd · 可选 Nginx / Node 静态服务</a:t>
            </a:r>
          </a:p>
        </p:txBody>
      </p:sp>
    </p:spTree>
    <p:extLst>
      <p:ext uri="{BB962C8B-B14F-4D97-AF65-F5344CB8AC3E}">
        <p14:creationId xmlns:p14="http://schemas.microsoft.com/office/powerpoint/2010/main" val="574042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ihonm3j">
            <a:extLst xmlns:a="http://schemas.openxmlformats.org/drawingml/2006/main">
              <a:ext uri="{FF2B5EF4-FFF2-40B4-BE49-F238E27FC236}">
                <a16:creationId xmlns:a16="http://schemas.microsoft.com/office/drawing/2014/main" id="{2F780B7E-8B9B-49D0-A074-3FFBAEF1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技术栈与工具</a:t>
            </a:r>
          </a:p>
        </p:txBody>
      </p:sp>
      <p:sp>
        <p:nvSpPr>
          <p:cNvPr id="2" name="text-byj54sl">
            <a:extLst xmlns:a="http://schemas.openxmlformats.org/drawingml/2006/main">
              <a:ext uri="{FF2B5EF4-FFF2-40B4-BE49-F238E27FC236}">
                <a16:creationId xmlns:a16="http://schemas.microsoft.com/office/drawing/2014/main" id="{875C340B-CAF9-46FB-AEF6-A2CC544C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技术栈选择围绕可维护、可审计与离线可交付</a:t>
            </a:r>
          </a:p>
        </p:txBody>
      </p:sp>
      <p:sp>
        <p:nvSpPr>
          <p:cNvPr id="3" name="shape-3imu9md">
            <a:extLst xmlns:a="http://schemas.openxmlformats.org/drawingml/2006/main">
              <a:ext uri="{FF2B5EF4-FFF2-40B4-BE49-F238E27FC236}">
                <a16:creationId xmlns:a16="http://schemas.microsoft.com/office/drawing/2014/main" id="{5A3F18DA-BC19-46A7-A9B7-15659956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7nljcfq">
            <a:extLst xmlns:a="http://schemas.openxmlformats.org/drawingml/2006/main">
              <a:ext uri="{FF2B5EF4-FFF2-40B4-BE49-F238E27FC236}">
                <a16:creationId xmlns:a16="http://schemas.microsoft.com/office/drawing/2014/main" id="{BD64A4E3-18F0-474A-87E6-E54E1CB3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hvjhque">
            <a:extLst xmlns:a="http://schemas.openxmlformats.org/drawingml/2006/main">
              <a:ext uri="{FF2B5EF4-FFF2-40B4-BE49-F238E27FC236}">
                <a16:creationId xmlns:a16="http://schemas.microsoft.com/office/drawing/2014/main" id="{BABE1E2E-D5B7-45C4-BB4C-CC1B58B9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text-lb16yux">
            <a:extLst xmlns:a="http://schemas.openxmlformats.org/drawingml/2006/main">
              <a:ext uri="{FF2B5EF4-FFF2-40B4-BE49-F238E27FC236}">
                <a16:creationId xmlns:a16="http://schemas.microsoft.com/office/drawing/2014/main" id="{2F49D053-DD39-4530-88B2-1D467C1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7" name="shape-2bc30b3">
            <a:extLst xmlns:a="http://schemas.openxmlformats.org/drawingml/2006/main">
              <a:ext uri="{FF2B5EF4-FFF2-40B4-BE49-F238E27FC236}">
                <a16:creationId xmlns:a16="http://schemas.microsoft.com/office/drawing/2014/main" id="{5428FFD9-1307-4D3F-88F7-B9165C73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573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-bfv9eo0">
            <a:extLst xmlns:a="http://schemas.openxmlformats.org/drawingml/2006/main">
              <a:ext uri="{FF2B5EF4-FFF2-40B4-BE49-F238E27FC236}">
                <a16:creationId xmlns:a16="http://schemas.microsoft.com/office/drawing/2014/main" id="{A4A13EA1-4E5C-409C-9BCC-BC35D156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Vue 3.5 · TypeScript · Vite · Element Plus · Pinia · ECharts</a:t>
            </a:r>
          </a:p>
        </p:txBody>
      </p:sp>
      <p:sp>
        <p:nvSpPr>
          <p:cNvPr id="9" name="text-pkisce9">
            <a:extLst xmlns:a="http://schemas.openxmlformats.org/drawingml/2006/main">
              <a:ext uri="{FF2B5EF4-FFF2-40B4-BE49-F238E27FC236}">
                <a16:creationId xmlns:a16="http://schemas.microsoft.com/office/drawing/2014/main" id="{1723A890-BA36-487E-8CAC-A9DC0E8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0" name="shape-47nd2bl">
            <a:extLst xmlns:a="http://schemas.openxmlformats.org/drawingml/2006/main">
              <a:ext uri="{FF2B5EF4-FFF2-40B4-BE49-F238E27FC236}">
                <a16:creationId xmlns:a16="http://schemas.microsoft.com/office/drawing/2014/main" id="{1E25BCE0-5859-47CC-9575-5D264B34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622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text-agl81qq">
            <a:extLst xmlns:a="http://schemas.openxmlformats.org/drawingml/2006/main">
              <a:ext uri="{FF2B5EF4-FFF2-40B4-BE49-F238E27FC236}">
                <a16:creationId xmlns:a16="http://schemas.microsoft.com/office/drawing/2014/main" id="{A267A375-2186-4B7C-89E5-0E86AAD0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Java 17 · Spring Boot 3.5.9 · Security · JDBC · Validation · Actuator</a:t>
            </a:r>
          </a:p>
        </p:txBody>
      </p:sp>
      <p:sp>
        <p:nvSpPr>
          <p:cNvPr id="12" name="text-7j36c0u">
            <a:extLst xmlns:a="http://schemas.openxmlformats.org/drawingml/2006/main">
              <a:ext uri="{FF2B5EF4-FFF2-40B4-BE49-F238E27FC236}">
                <a16:creationId xmlns:a16="http://schemas.microsoft.com/office/drawing/2014/main" id="{8ED8F143-DB06-4A36-908C-C6BEBFC6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/ 知识</a:t>
            </a:r>
          </a:p>
        </p:txBody>
      </p:sp>
      <p:sp>
        <p:nvSpPr>
          <p:cNvPr id="13" name="shape-ynqjylg">
            <a:extLst xmlns:a="http://schemas.openxmlformats.org/drawingml/2006/main">
              <a:ext uri="{FF2B5EF4-FFF2-40B4-BE49-F238E27FC236}">
                <a16:creationId xmlns:a16="http://schemas.microsoft.com/office/drawing/2014/main" id="{4350376C-1D34-49C9-AA58-9952114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670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text-vfc4bun">
            <a:extLst xmlns:a="http://schemas.openxmlformats.org/drawingml/2006/main">
              <a:ext uri="{FF2B5EF4-FFF2-40B4-BE49-F238E27FC236}">
                <a16:creationId xmlns:a16="http://schemas.microsoft.com/office/drawing/2014/main" id="{54C9AD44-B045-4800-8E65-D06A4D3E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051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可插拔模型 Provider · Tika · Embedding · Qdrant · RAG</a:t>
            </a:r>
          </a:p>
        </p:txBody>
      </p:sp>
      <p:sp>
        <p:nvSpPr>
          <p:cNvPr id="15" name="text-ha47ty4">
            <a:extLst xmlns:a="http://schemas.openxmlformats.org/drawingml/2006/main">
              <a:ext uri="{FF2B5EF4-FFF2-40B4-BE49-F238E27FC236}">
                <a16:creationId xmlns:a16="http://schemas.microsoft.com/office/drawing/2014/main" id="{92ED52BD-18B5-44C2-83EB-C9E96729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SQL / 数据</a:t>
            </a:r>
          </a:p>
        </p:txBody>
      </p:sp>
      <p:sp>
        <p:nvSpPr>
          <p:cNvPr id="16" name="shape-6jm6pri">
            <a:extLst xmlns:a="http://schemas.openxmlformats.org/drawingml/2006/main">
              <a:ext uri="{FF2B5EF4-FFF2-40B4-BE49-F238E27FC236}">
                <a16:creationId xmlns:a16="http://schemas.microsoft.com/office/drawing/2014/main" id="{629641DC-49EF-48A9-BD0C-DF1A5311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719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text-ii8lmn8">
            <a:extLst xmlns:a="http://schemas.openxmlformats.org/drawingml/2006/main">
              <a:ext uri="{FF2B5EF4-FFF2-40B4-BE49-F238E27FC236}">
                <a16:creationId xmlns:a16="http://schemas.microsoft.com/office/drawing/2014/main" id="{80D7EF57-E977-42C3-941D-DE793DF2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JSqlParser 5.3 · Oracle 19c · ojdbc11 · Flyway</a:t>
            </a:r>
          </a:p>
        </p:txBody>
      </p:sp>
      <p:sp>
        <p:nvSpPr>
          <p:cNvPr id="18" name="text-xgz0e7v">
            <a:extLst xmlns:a="http://schemas.openxmlformats.org/drawingml/2006/main">
              <a:ext uri="{FF2B5EF4-FFF2-40B4-BE49-F238E27FC236}">
                <a16:creationId xmlns:a16="http://schemas.microsoft.com/office/drawing/2014/main" id="{1E95909D-E137-467E-9164-C9B38CC3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报告 / 测试</a:t>
            </a:r>
          </a:p>
        </p:txBody>
      </p:sp>
      <p:sp>
        <p:nvSpPr>
          <p:cNvPr id="19" name="shape-kdw1cg2">
            <a:extLst xmlns:a="http://schemas.openxmlformats.org/drawingml/2006/main">
              <a:ext uri="{FF2B5EF4-FFF2-40B4-BE49-F238E27FC236}">
                <a16:creationId xmlns:a16="http://schemas.microsoft.com/office/drawing/2014/main" id="{BE9E8834-3A2E-4D6E-A43A-7D91B256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76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text-a4ie9bo">
            <a:extLst xmlns:a="http://schemas.openxmlformats.org/drawingml/2006/main">
              <a:ext uri="{FF2B5EF4-FFF2-40B4-BE49-F238E27FC236}">
                <a16:creationId xmlns:a16="http://schemas.microsoft.com/office/drawing/2014/main" id="{0E5B0BFF-7D2C-447A-A72F-4B1356C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Apache POI · CSV/XML · JUnit 5 · H2 Oracle Mode · 冒烟脚本</a:t>
            </a:r>
          </a:p>
        </p:txBody>
      </p:sp>
      <p:sp>
        <p:nvSpPr>
          <p:cNvPr id="21" name="text-5mr9kbk">
            <a:extLst xmlns:a="http://schemas.openxmlformats.org/drawingml/2006/main">
              <a:ext uri="{FF2B5EF4-FFF2-40B4-BE49-F238E27FC236}">
                <a16:creationId xmlns:a16="http://schemas.microsoft.com/office/drawing/2014/main" id="{4B53F326-87FC-4632-A4F3-480084E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离线交付</a:t>
            </a:r>
          </a:p>
        </p:txBody>
      </p:sp>
      <p:sp>
        <p:nvSpPr>
          <p:cNvPr id="22" name="shape-oil9o3c">
            <a:extLst xmlns:a="http://schemas.openxmlformats.org/drawingml/2006/main">
              <a:ext uri="{FF2B5EF4-FFF2-40B4-BE49-F238E27FC236}">
                <a16:creationId xmlns:a16="http://schemas.microsoft.com/office/drawing/2014/main" id="{F52A4962-249F-4218-94F9-5E4C8728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816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text-dou1yyn">
            <a:extLst xmlns:a="http://schemas.openxmlformats.org/drawingml/2006/main">
              <a:ext uri="{FF2B5EF4-FFF2-40B4-BE49-F238E27FC236}">
                <a16:creationId xmlns:a16="http://schemas.microsoft.com/office/drawing/2014/main" id="{83554260-1DF0-4BE0-B2FB-D6B1AE2A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Maven 3.9.11 + 302.72 MB 离线仓库 · node_modules · SHA-256</a:t>
            </a:r>
          </a:p>
        </p:txBody>
      </p:sp>
      <p:sp>
        <p:nvSpPr>
          <p:cNvPr id="24" name="shape-6kyky55">
            <a:extLst xmlns:a="http://schemas.openxmlformats.org/drawingml/2006/main">
              <a:ext uri="{FF2B5EF4-FFF2-40B4-BE49-F238E27FC236}">
                <a16:creationId xmlns:a16="http://schemas.microsoft.com/office/drawing/2014/main" id="{0044833A-7864-4E00-A2BF-718EA32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29300"/>
            <a:ext cx="447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EAF7EE"/>
            </a:solidFill>
            <a:prstDash val="solid"/>
          </a:ln>
        </p:spPr>
      </p:sp>
      <p:sp>
        <p:nvSpPr>
          <p:cNvPr id="25" name="text-uy1bj8i">
            <a:extLst xmlns:a="http://schemas.openxmlformats.org/drawingml/2006/main">
              <a:ext uri="{FF2B5EF4-FFF2-40B4-BE49-F238E27FC236}">
                <a16:creationId xmlns:a16="http://schemas.microsoft.com/office/drawing/2014/main" id="{F22D8093-0C9C-4634-95B9-7D4ECD70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87692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当前后端可在完全离线模式下 clean · test · package</a:t>
            </a:r>
          </a:p>
        </p:txBody>
      </p:sp>
    </p:spTree>
    <p:extLst>
      <p:ext uri="{BB962C8B-B14F-4D97-AF65-F5344CB8AC3E}">
        <p14:creationId xmlns:p14="http://schemas.microsoft.com/office/powerpoint/2010/main" val="16626009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xyur9xd">
            <a:extLst xmlns:a="http://schemas.openxmlformats.org/drawingml/2006/main">
              <a:ext uri="{FF2B5EF4-FFF2-40B4-BE49-F238E27FC236}">
                <a16:creationId xmlns:a16="http://schemas.microsoft.com/office/drawing/2014/main" id="{3C20CF74-1285-4276-A522-18F42A6A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验证证据</a:t>
            </a:r>
          </a:p>
        </p:txBody>
      </p:sp>
      <p:sp>
        <p:nvSpPr>
          <p:cNvPr id="2" name="text-owgdw18">
            <a:extLst xmlns:a="http://schemas.openxmlformats.org/drawingml/2006/main">
              <a:ext uri="{FF2B5EF4-FFF2-40B4-BE49-F238E27FC236}">
                <a16:creationId xmlns:a16="http://schemas.microsoft.com/office/drawing/2014/main" id="{A9A8EE99-CA86-45CF-A4C2-D7BBF480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当前垂直切片已有可复现的构建、数据与真实问答证据</a:t>
            </a:r>
          </a:p>
        </p:txBody>
      </p:sp>
      <p:sp>
        <p:nvSpPr>
          <p:cNvPr id="3" name="shape-xpix6jg">
            <a:extLst xmlns:a="http://schemas.openxmlformats.org/drawingml/2006/main">
              <a:ext uri="{FF2B5EF4-FFF2-40B4-BE49-F238E27FC236}">
                <a16:creationId xmlns:a16="http://schemas.microsoft.com/office/drawing/2014/main" id="{A6D2DCCB-555D-4F71-9ACF-1A4C28E9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z0qysxm">
            <a:extLst xmlns:a="http://schemas.openxmlformats.org/drawingml/2006/main">
              <a:ext uri="{FF2B5EF4-FFF2-40B4-BE49-F238E27FC236}">
                <a16:creationId xmlns:a16="http://schemas.microsoft.com/office/drawing/2014/main" id="{6FDE9EA3-4B96-4E87-99A5-C89DD984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nvhohpu">
            <a:extLst xmlns:a="http://schemas.openxmlformats.org/drawingml/2006/main">
              <a:ext uri="{FF2B5EF4-FFF2-40B4-BE49-F238E27FC236}">
                <a16:creationId xmlns:a16="http://schemas.microsoft.com/office/drawing/2014/main" id="{BF711B89-4E7F-4BE1-B9C9-728D017B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shape-bsttzin">
            <a:extLst xmlns:a="http://schemas.openxmlformats.org/drawingml/2006/main">
              <a:ext uri="{FF2B5EF4-FFF2-40B4-BE49-F238E27FC236}">
                <a16:creationId xmlns:a16="http://schemas.microsoft.com/office/drawing/2014/main" id="{6A39713F-BFE6-436A-896A-32A8C219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kprqsod">
            <a:extLst xmlns:a="http://schemas.openxmlformats.org/drawingml/2006/main">
              <a:ext uri="{FF2B5EF4-FFF2-40B4-BE49-F238E27FC236}">
                <a16:creationId xmlns:a16="http://schemas.microsoft.com/office/drawing/2014/main" id="{71EB2CD3-BB27-4C52-ABA1-55C954A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sp>
        <p:nvSpPr>
          <p:cNvPr id="8" name="text-p85258c">
            <a:extLst xmlns:a="http://schemas.openxmlformats.org/drawingml/2006/main">
              <a:ext uri="{FF2B5EF4-FFF2-40B4-BE49-F238E27FC236}">
                <a16:creationId xmlns:a16="http://schemas.microsoft.com/office/drawing/2014/main" id="{B6DF075A-DE5A-4046-87FD-E6EE12AE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后端自动化测试通过</a:t>
            </a:r>
          </a:p>
        </p:txBody>
      </p:sp>
      <p:sp>
        <p:nvSpPr>
          <p:cNvPr id="9" name="shape-dmjvpde">
            <a:extLst xmlns:a="http://schemas.openxmlformats.org/drawingml/2006/main">
              <a:ext uri="{FF2B5EF4-FFF2-40B4-BE49-F238E27FC236}">
                <a16:creationId xmlns:a16="http://schemas.microsoft.com/office/drawing/2014/main" id="{5224E0AD-0D51-4514-82E5-8E3FE8A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sxsvnlk">
            <a:extLst xmlns:a="http://schemas.openxmlformats.org/drawingml/2006/main">
              <a:ext uri="{FF2B5EF4-FFF2-40B4-BE49-F238E27FC236}">
                <a16:creationId xmlns:a16="http://schemas.microsoft.com/office/drawing/2014/main" id="{F2890AD0-1C62-444A-ADA5-E38AB1B9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145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  <p:sp>
        <p:nvSpPr>
          <p:cNvPr id="11" name="text-2c3wahx">
            <a:extLst xmlns:a="http://schemas.openxmlformats.org/drawingml/2006/main">
              <a:ext uri="{FF2B5EF4-FFF2-40B4-BE49-F238E27FC236}">
                <a16:creationId xmlns:a16="http://schemas.microsoft.com/office/drawing/2014/main" id="{1ACD72BA-E466-4AA0-A582-845A0342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48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Foundry 360 标准问题完成</a:t>
            </a:r>
          </a:p>
        </p:txBody>
      </p:sp>
      <p:sp>
        <p:nvSpPr>
          <p:cNvPr id="12" name="shape-qg0n9mz">
            <a:extLst xmlns:a="http://schemas.openxmlformats.org/drawingml/2006/main">
              <a:ext uri="{FF2B5EF4-FFF2-40B4-BE49-F238E27FC236}">
                <a16:creationId xmlns:a16="http://schemas.microsoft.com/office/drawing/2014/main" id="{F47D443E-AB3D-4932-91EB-25E966FC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huoakw7">
            <a:extLst xmlns:a="http://schemas.openxmlformats.org/drawingml/2006/main">
              <a:ext uri="{FF2B5EF4-FFF2-40B4-BE49-F238E27FC236}">
                <a16:creationId xmlns:a16="http://schemas.microsoft.com/office/drawing/2014/main" id="{9580B121-A95B-4F3B-A48F-7616CB5D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7A5AF8"/>
                </a:solidFill>
                <a:latin typeface="Microsoft YaHei"/>
                <a:ea typeface="Microsoft YaHei"/>
                <a:cs typeface="Microsoft YaHei"/>
              </a:rPr>
              <a:t>25 张</a:t>
            </a:r>
          </a:p>
        </p:txBody>
      </p:sp>
      <p:sp>
        <p:nvSpPr>
          <p:cNvPr id="14" name="text-vgv2k70">
            <a:extLst xmlns:a="http://schemas.openxmlformats.org/drawingml/2006/main">
              <a:ext uri="{FF2B5EF4-FFF2-40B4-BE49-F238E27FC236}">
                <a16:creationId xmlns:a16="http://schemas.microsoft.com/office/drawing/2014/main" id="{3536F61C-B9F0-4797-9DB4-0D0EF7F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Foundry 360 关联表</a:t>
            </a:r>
          </a:p>
        </p:txBody>
      </p:sp>
      <p:sp>
        <p:nvSpPr>
          <p:cNvPr id="15" name="shape-c6dg6cv">
            <a:extLst xmlns:a="http://schemas.openxmlformats.org/drawingml/2006/main">
              <a:ext uri="{FF2B5EF4-FFF2-40B4-BE49-F238E27FC236}">
                <a16:creationId xmlns:a16="http://schemas.microsoft.com/office/drawing/2014/main" id="{F3FEAE19-E960-4675-BB01-C5AD333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71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-cd33ywd">
            <a:extLst xmlns:a="http://schemas.openxmlformats.org/drawingml/2006/main">
              <a:ext uri="{FF2B5EF4-FFF2-40B4-BE49-F238E27FC236}">
                <a16:creationId xmlns:a16="http://schemas.microsoft.com/office/drawing/2014/main" id="{37644A26-6512-4B26-9B28-5EF310A2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145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9A6700"/>
                </a:solidFill>
                <a:latin typeface="Microsoft YaHei"/>
                <a:ea typeface="Microsoft YaHei"/>
                <a:cs typeface="Microsoft YaHei"/>
              </a:rPr>
              <a:t>2,359 行</a:t>
            </a:r>
          </a:p>
        </p:txBody>
      </p:sp>
      <p:sp>
        <p:nvSpPr>
          <p:cNvPr id="17" name="text-2cd3xj3">
            <a:extLst xmlns:a="http://schemas.openxmlformats.org/drawingml/2006/main">
              <a:ext uri="{FF2B5EF4-FFF2-40B4-BE49-F238E27FC236}">
                <a16:creationId xmlns:a16="http://schemas.microsoft.com/office/drawing/2014/main" id="{213C1B69-7144-45F3-BF3C-98B8ADEB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480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真实 Oracle 验收数据</a:t>
            </a:r>
          </a:p>
        </p:txBody>
      </p:sp>
      <p:sp>
        <p:nvSpPr>
          <p:cNvPr id="18" name="shape-y6opvc5">
            <a:extLst xmlns:a="http://schemas.openxmlformats.org/drawingml/2006/main">
              <a:ext uri="{FF2B5EF4-FFF2-40B4-BE49-F238E27FC236}">
                <a16:creationId xmlns:a16="http://schemas.microsoft.com/office/drawing/2014/main" id="{50891B6B-D56C-4D05-8E77-ABC7E50D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text-enmukfn">
            <a:extLst xmlns:a="http://schemas.openxmlformats.org/drawingml/2006/main">
              <a:ext uri="{FF2B5EF4-FFF2-40B4-BE49-F238E27FC236}">
                <a16:creationId xmlns:a16="http://schemas.microsoft.com/office/drawing/2014/main" id="{5776CA9C-B055-415B-858E-02B95FA2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真实链路覆盖</a:t>
            </a:r>
          </a:p>
        </p:txBody>
      </p:sp>
      <p:sp>
        <p:nvSpPr>
          <p:cNvPr id="20" name="text-ow63e05">
            <a:extLst xmlns:a="http://schemas.openxmlformats.org/drawingml/2006/main">
              <a:ext uri="{FF2B5EF4-FFF2-40B4-BE49-F238E27FC236}">
                <a16:creationId xmlns:a16="http://schemas.microsoft.com/office/drawing/2014/main" id="{180B2C41-2139-4B1A-9015-C96F74A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Oracle 19c · Qdrant · 模型 API · 多表 SQL · 报告 · XLSX/CSV/XML 导出</a:t>
            </a:r>
          </a:p>
        </p:txBody>
      </p:sp>
      <p:sp>
        <p:nvSpPr>
          <p:cNvPr id="21" name="shape-fgk3vms">
            <a:extLst xmlns:a="http://schemas.openxmlformats.org/drawingml/2006/main">
              <a:ext uri="{FF2B5EF4-FFF2-40B4-BE49-F238E27FC236}">
                <a16:creationId xmlns:a16="http://schemas.microsoft.com/office/drawing/2014/main" id="{EFE5FE05-5A3D-41EE-9927-1403E3A1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57347"/>
            </a:solidFill>
            <a:prstDash val="solid"/>
          </a:ln>
        </p:spPr>
      </p:sp>
      <p:sp>
        <p:nvSpPr>
          <p:cNvPr id="22" name="text-duslumy">
            <a:extLst xmlns:a="http://schemas.openxmlformats.org/drawingml/2006/main">
              <a:ext uri="{FF2B5EF4-FFF2-40B4-BE49-F238E27FC236}">
                <a16:creationId xmlns:a16="http://schemas.microsoft.com/office/drawing/2014/main" id="{42FF7962-9889-4A71-B5E5-95B9690B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测试覆盖重点</a:t>
            </a:r>
          </a:p>
        </p:txBody>
      </p:sp>
      <p:sp>
        <p:nvSpPr>
          <p:cNvPr id="23" name="text-bvq3w0h">
            <a:extLst xmlns:a="http://schemas.openxmlformats.org/drawingml/2006/main">
              <a:ext uri="{FF2B5EF4-FFF2-40B4-BE49-F238E27FC236}">
                <a16:creationId xmlns:a16="http://schemas.microsoft.com/office/drawing/2014/main" id="{E169A218-598A-4C72-89E1-0BA0849B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401 / 403 权限矩阵 · SQLGuard · 查询编排 · 模型路由 · 反馈与下载门禁</a:t>
            </a:r>
          </a:p>
        </p:txBody>
      </p:sp>
    </p:spTree>
    <p:extLst>
      <p:ext uri="{BB962C8B-B14F-4D97-AF65-F5344CB8AC3E}">
        <p14:creationId xmlns:p14="http://schemas.microsoft.com/office/powerpoint/2010/main" val="17850941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jas24nw">
            <a:extLst xmlns:a="http://schemas.openxmlformats.org/drawingml/2006/main">
              <a:ext uri="{FF2B5EF4-FFF2-40B4-BE49-F238E27FC236}">
                <a16:creationId xmlns:a16="http://schemas.microsoft.com/office/drawing/2014/main" id="{43A9D322-71B7-4E0E-83FD-5784DD72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风险与实施路线</a:t>
            </a:r>
          </a:p>
        </p:txBody>
      </p:sp>
      <p:sp>
        <p:nvSpPr>
          <p:cNvPr id="2" name="text-ecounev">
            <a:extLst xmlns:a="http://schemas.openxmlformats.org/drawingml/2006/main">
              <a:ext uri="{FF2B5EF4-FFF2-40B4-BE49-F238E27FC236}">
                <a16:creationId xmlns:a16="http://schemas.microsoft.com/office/drawing/2014/main" id="{9D7C121D-1DB0-474D-BD8A-F954C0A2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建议先清零安全 P0，再扩大业务域和用户范围</a:t>
            </a:r>
          </a:p>
        </p:txBody>
      </p:sp>
      <p:sp>
        <p:nvSpPr>
          <p:cNvPr id="3" name="shape-e3sccti">
            <a:extLst xmlns:a="http://schemas.openxmlformats.org/drawingml/2006/main">
              <a:ext uri="{FF2B5EF4-FFF2-40B4-BE49-F238E27FC236}">
                <a16:creationId xmlns:a16="http://schemas.microsoft.com/office/drawing/2014/main" id="{722C08F5-55C7-45B9-B794-C1B238C0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ext-43z0x5e">
            <a:extLst xmlns:a="http://schemas.openxmlformats.org/drawingml/2006/main">
              <a:ext uri="{FF2B5EF4-FFF2-40B4-BE49-F238E27FC236}">
                <a16:creationId xmlns:a16="http://schemas.microsoft.com/office/drawing/2014/main" id="{DE16C177-F8F0-4551-B51C-816A178F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BI / Controlled NL2SQL</a:t>
            </a:r>
          </a:p>
        </p:txBody>
      </p:sp>
      <p:sp>
        <p:nvSpPr>
          <p:cNvPr id="5" name="text-adwwsrj">
            <a:extLst xmlns:a="http://schemas.openxmlformats.org/drawingml/2006/main">
              <a:ext uri="{FF2B5EF4-FFF2-40B4-BE49-F238E27FC236}">
                <a16:creationId xmlns:a16="http://schemas.microsoft.com/office/drawing/2014/main" id="{1B21E69C-839C-4A70-8EE3-E7FBA843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shape-hwkbm1o">
            <a:extLst xmlns:a="http://schemas.openxmlformats.org/drawingml/2006/main">
              <a:ext uri="{FF2B5EF4-FFF2-40B4-BE49-F238E27FC236}">
                <a16:creationId xmlns:a16="http://schemas.microsoft.com/office/drawing/2014/main" id="{01502710-F095-47B0-800B-F338D81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shape-y61pqys">
            <a:extLst xmlns:a="http://schemas.openxmlformats.org/drawingml/2006/main">
              <a:ext uri="{FF2B5EF4-FFF2-40B4-BE49-F238E27FC236}">
                <a16:creationId xmlns:a16="http://schemas.microsoft.com/office/drawing/2014/main" id="{963EC200-1052-47C7-A41A-4279E208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-91yp8bz">
            <a:extLst xmlns:a="http://schemas.openxmlformats.org/drawingml/2006/main">
              <a:ext uri="{FF2B5EF4-FFF2-40B4-BE49-F238E27FC236}">
                <a16:creationId xmlns:a16="http://schemas.microsoft.com/office/drawing/2014/main" id="{9E53D738-857B-4F66-AA61-889F69DA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 0</a:t>
            </a:r>
          </a:p>
        </p:txBody>
      </p:sp>
      <p:sp>
        <p:nvSpPr>
          <p:cNvPr id="9" name="text-3snrhoz">
            <a:extLst xmlns:a="http://schemas.openxmlformats.org/drawingml/2006/main">
              <a:ext uri="{FF2B5EF4-FFF2-40B4-BE49-F238E27FC236}">
                <a16:creationId xmlns:a16="http://schemas.microsoft.com/office/drawing/2014/main" id="{D9279BB4-AF82-43A0-850E-AA484CB0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安全基线</a:t>
            </a:r>
          </a:p>
        </p:txBody>
      </p:sp>
      <p:sp>
        <p:nvSpPr>
          <p:cNvPr id="10" name="text-gfth44i">
            <a:extLst xmlns:a="http://schemas.openxmlformats.org/drawingml/2006/main">
              <a:ext uri="{FF2B5EF4-FFF2-40B4-BE49-F238E27FC236}">
                <a16:creationId xmlns:a16="http://schemas.microsoft.com/office/drawing/2014/main" id="{D8328A23-D137-4C26-B391-76E6A4F1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tenant / Owner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双数据源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Policy Engine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可靠审计</a:t>
            </a:r>
          </a:p>
        </p:txBody>
      </p:sp>
      <p:sp>
        <p:nvSpPr>
          <p:cNvPr id="11" name="shape-qvj616o">
            <a:extLst xmlns:a="http://schemas.openxmlformats.org/drawingml/2006/main">
              <a:ext uri="{FF2B5EF4-FFF2-40B4-BE49-F238E27FC236}">
                <a16:creationId xmlns:a16="http://schemas.microsoft.com/office/drawing/2014/main" id="{1B105557-3CF8-4A3A-B6EB-EB07EDB5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text-103dpwi">
            <a:extLst xmlns:a="http://schemas.openxmlformats.org/drawingml/2006/main">
              <a:ext uri="{FF2B5EF4-FFF2-40B4-BE49-F238E27FC236}">
                <a16:creationId xmlns:a16="http://schemas.microsoft.com/office/drawing/2014/main" id="{C2C74840-15B2-4A5E-90EF-69E0C51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13" name="text-tul131u">
            <a:extLst xmlns:a="http://schemas.openxmlformats.org/drawingml/2006/main">
              <a:ext uri="{FF2B5EF4-FFF2-40B4-BE49-F238E27FC236}">
                <a16:creationId xmlns:a16="http://schemas.microsoft.com/office/drawing/2014/main" id="{75A75CCF-7E62-412B-B2AE-5A356EEF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受控试点</a:t>
            </a:r>
          </a:p>
        </p:txBody>
      </p:sp>
      <p:sp>
        <p:nvSpPr>
          <p:cNvPr id="14" name="text-faclqgm">
            <a:extLst xmlns:a="http://schemas.openxmlformats.org/drawingml/2006/main">
              <a:ext uri="{FF2B5EF4-FFF2-40B4-BE49-F238E27FC236}">
                <a16:creationId xmlns:a16="http://schemas.microsoft.com/office/drawing/2014/main" id="{E8BB9FE4-E840-43E4-846C-6F31C461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单业务域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有限用户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黄金集门禁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容量验证</a:t>
            </a:r>
          </a:p>
        </p:txBody>
      </p:sp>
      <p:sp>
        <p:nvSpPr>
          <p:cNvPr id="15" name="shape-0m2bedq">
            <a:extLst xmlns:a="http://schemas.openxmlformats.org/drawingml/2006/main">
              <a:ext uri="{FF2B5EF4-FFF2-40B4-BE49-F238E27FC236}">
                <a16:creationId xmlns:a16="http://schemas.microsoft.com/office/drawing/2014/main" id="{F4BCE803-B510-4AEF-AD87-E6DDA9D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text-cki09rd">
            <a:extLst xmlns:a="http://schemas.openxmlformats.org/drawingml/2006/main">
              <a:ext uri="{FF2B5EF4-FFF2-40B4-BE49-F238E27FC236}">
                <a16:creationId xmlns:a16="http://schemas.microsoft.com/office/drawing/2014/main" id="{96930D2E-C290-484C-8A8E-3CA04E0F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7" name="text-vi6tmhs">
            <a:extLst xmlns:a="http://schemas.openxmlformats.org/drawingml/2006/main">
              <a:ext uri="{FF2B5EF4-FFF2-40B4-BE49-F238E27FC236}">
                <a16:creationId xmlns:a16="http://schemas.microsoft.com/office/drawing/2014/main" id="{CCFB93D8-4746-4201-991F-4873333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规模治理</a:t>
            </a:r>
          </a:p>
        </p:txBody>
      </p:sp>
      <p:sp>
        <p:nvSpPr>
          <p:cNvPr id="18" name="text-37tf13c">
            <a:extLst xmlns:a="http://schemas.openxmlformats.org/drawingml/2006/main">
              <a:ext uri="{FF2B5EF4-FFF2-40B4-BE49-F238E27FC236}">
                <a16:creationId xmlns:a16="http://schemas.microsoft.com/office/drawing/2014/main" id="{DFC75948-E03F-4A27-AA4B-15A9C0E8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审批 / 版本 / 血缘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模型注册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监控告警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备份恢复</a:t>
            </a:r>
          </a:p>
        </p:txBody>
      </p:sp>
      <p:sp>
        <p:nvSpPr>
          <p:cNvPr id="19" name="shape-twb33hg">
            <a:extLst xmlns:a="http://schemas.openxmlformats.org/drawingml/2006/main">
              <a:ext uri="{FF2B5EF4-FFF2-40B4-BE49-F238E27FC236}">
                <a16:creationId xmlns:a16="http://schemas.microsoft.com/office/drawing/2014/main" id="{2EE07F56-6BB0-46A6-A594-94183E0F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19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text-hss06vd">
            <a:extLst xmlns:a="http://schemas.openxmlformats.org/drawingml/2006/main">
              <a:ext uri="{FF2B5EF4-FFF2-40B4-BE49-F238E27FC236}">
                <a16:creationId xmlns:a16="http://schemas.microsoft.com/office/drawing/2014/main" id="{5F457F12-4D1F-4AAB-8152-870E0300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21" name="text-vsb74m6">
            <a:extLst xmlns:a="http://schemas.openxmlformats.org/drawingml/2006/main">
              <a:ext uri="{FF2B5EF4-FFF2-40B4-BE49-F238E27FC236}">
                <a16:creationId xmlns:a16="http://schemas.microsoft.com/office/drawing/2014/main" id="{08BC615A-C88F-492C-A46C-42AB7664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66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产品增强</a:t>
            </a:r>
          </a:p>
        </p:txBody>
      </p:sp>
      <p:sp>
        <p:nvSpPr>
          <p:cNvPr id="22" name="text-mphpll1">
            <a:extLst xmlns:a="http://schemas.openxmlformats.org/drawingml/2006/main">
              <a:ext uri="{FF2B5EF4-FFF2-40B4-BE49-F238E27FC236}">
                <a16:creationId xmlns:a16="http://schemas.microsoft.com/office/drawing/2014/main" id="{26EAECD7-85F2-409E-8524-6B2F7A9B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多数据源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报告编辑 / PPTX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调度分发</a:t>
            </a:r>
          </a:p>
          <a:p xmlns:a="http://schemas.openxmlformats.org/drawingml/2006/main">
            <a:pPr algn="l">
              <a:def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运营分析</a:t>
            </a:r>
          </a:p>
        </p:txBody>
      </p:sp>
      <p:sp>
        <p:nvSpPr>
          <p:cNvPr id="23" name="shape-qfa2b1b">
            <a:extLst xmlns:a="http://schemas.openxmlformats.org/drawingml/2006/main">
              <a:ext uri="{FF2B5EF4-FFF2-40B4-BE49-F238E27FC236}">
                <a16:creationId xmlns:a16="http://schemas.microsoft.com/office/drawing/2014/main" id="{FB3217FC-F8C2-48C6-9F14-02343EA8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4" name="text-61ik6pp">
            <a:extLst xmlns:a="http://schemas.openxmlformats.org/drawingml/2006/main">
              <a:ext uri="{FF2B5EF4-FFF2-40B4-BE49-F238E27FC236}">
                <a16:creationId xmlns:a16="http://schemas.microsoft.com/office/drawing/2014/main" id="{BB04DA2B-CF0F-4605-98D8-B713A91E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上线门禁</a:t>
            </a:r>
          </a:p>
        </p:txBody>
      </p:sp>
      <p:sp>
        <p:nvSpPr>
          <p:cNvPr id="25" name="text-e7vs0vb">
            <a:extLst xmlns:a="http://schemas.openxmlformats.org/drawingml/2006/main">
              <a:ext uri="{FF2B5EF4-FFF2-40B4-BE49-F238E27FC236}">
                <a16:creationId xmlns:a16="http://schemas.microsoft.com/office/drawing/2014/main" id="{573465FC-E76A-4CCE-A18D-850C323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任何 P0 未关闭，不接入真实敏感业务数据，不扩大用户范围。</a:t>
            </a:r>
          </a:p>
        </p:txBody>
      </p:sp>
    </p:spTree>
    <p:extLst>
      <p:ext uri="{BB962C8B-B14F-4D97-AF65-F5344CB8AC3E}">
        <p14:creationId xmlns:p14="http://schemas.microsoft.com/office/powerpoint/2010/main" val="2492710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lu43yzy">
            <a:extLst xmlns:a="http://schemas.openxmlformats.org/drawingml/2006/main">
              <a:ext uri="{FF2B5EF4-FFF2-40B4-BE49-F238E27FC236}">
                <a16:creationId xmlns:a16="http://schemas.microsoft.com/office/drawing/2014/main" id="{1266E54D-6803-416B-B23E-B4978470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REVIEW DECISION</a:t>
            </a:r>
          </a:p>
        </p:txBody>
      </p:sp>
      <p:sp>
        <p:nvSpPr>
          <p:cNvPr id="2" name="text-mgs6xs1">
            <a:extLst xmlns:a="http://schemas.openxmlformats.org/drawingml/2006/main">
              <a:ext uri="{FF2B5EF4-FFF2-40B4-BE49-F238E27FC236}">
                <a16:creationId xmlns:a16="http://schemas.microsoft.com/office/drawing/2014/main" id="{9FFBA762-44B8-4DD7-BD88-CDBF19C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建议有条件通过</a:t>
            </a:r>
          </a:p>
          <a:p xmlns:a="http://schemas.openxmlformats.org/drawingml/2006/main">
            <a:pPr algn="l">
              <a:defRPr sz="49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0B0F14"/>
                </a:solidFill>
                <a:latin typeface="Microsoft YaHei"/>
                <a:ea typeface="Microsoft YaHei"/>
                <a:cs typeface="Microsoft YaHei"/>
              </a:rPr>
              <a:t>受控试点</a:t>
            </a:r>
          </a:p>
        </p:txBody>
      </p:sp>
      <p:sp>
        <p:nvSpPr>
          <p:cNvPr id="3" name="text-n54ij0h">
            <a:extLst xmlns:a="http://schemas.openxmlformats.org/drawingml/2006/main">
              <a:ext uri="{FF2B5EF4-FFF2-40B4-BE49-F238E27FC236}">
                <a16:creationId xmlns:a16="http://schemas.microsoft.com/office/drawing/2014/main" id="{71A5708B-644F-49FA-9571-5C16B59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57347"/>
                </a:solidFill>
                <a:latin typeface="Microsoft YaHei"/>
                <a:ea typeface="Microsoft YaHei"/>
                <a:cs typeface="Microsoft YaHei"/>
              </a:rPr>
              <a:t>理由</a:t>
            </a:r>
          </a:p>
        </p:txBody>
      </p:sp>
      <p:sp>
        <p:nvSpPr>
          <p:cNvPr id="4" name="text-0m5dtqi">
            <a:extLst xmlns:a="http://schemas.openxmlformats.org/drawingml/2006/main">
              <a:ext uri="{FF2B5EF4-FFF2-40B4-BE49-F238E27FC236}">
                <a16:creationId xmlns:a16="http://schemas.microsoft.com/office/drawing/2014/main" id="{CCFDCD1F-3C6E-489A-9360-D89CC49B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产品链路与控制思路成立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当前能力可用于隔离环境验证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安全差距已被明确识别</a:t>
            </a:r>
          </a:p>
        </p:txBody>
      </p:sp>
      <p:sp>
        <p:nvSpPr>
          <p:cNvPr id="5" name="text-qxbm3zw">
            <a:extLst xmlns:a="http://schemas.openxmlformats.org/drawingml/2006/main">
              <a:ext uri="{FF2B5EF4-FFF2-40B4-BE49-F238E27FC236}">
                <a16:creationId xmlns:a16="http://schemas.microsoft.com/office/drawing/2014/main" id="{80C3691C-6639-4B06-B4E1-839189C9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前置条件</a:t>
            </a:r>
          </a:p>
        </p:txBody>
      </p:sp>
      <p:sp>
        <p:nvSpPr>
          <p:cNvPr id="6" name="text-ngdb9gc">
            <a:extLst xmlns:a="http://schemas.openxmlformats.org/drawingml/2006/main">
              <a:ext uri="{FF2B5EF4-FFF2-40B4-BE49-F238E27FC236}">
                <a16:creationId xmlns:a16="http://schemas.microsoft.com/office/drawing/2014/main" id="{FE8989DB-A7DC-4576-B260-A9C98F23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P0 数据隔离清零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双数据源与只读账号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行列策略与可靠审计</a:t>
            </a:r>
          </a:p>
          <a:p xmlns:a="http://schemas.openxmlformats.org/drawingml/2006/main">
            <a:pPr algn="l">
              <a:def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安全/黄金集回归通过</a:t>
            </a:r>
          </a:p>
        </p:txBody>
      </p:sp>
      <p:sp>
        <p:nvSpPr>
          <p:cNvPr id="7" name="text-lkdxyuo">
            <a:extLst xmlns:a="http://schemas.openxmlformats.org/drawingml/2006/main">
              <a:ext uri="{FF2B5EF4-FFF2-40B4-BE49-F238E27FC236}">
                <a16:creationId xmlns:a16="http://schemas.microsoft.com/office/drawing/2014/main" id="{8358EF4B-99EC-4B74-A544-227639F5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482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下一步：确认试点业务域、数据分类、用户范围与安全整改责任人。</a:t>
            </a:r>
          </a:p>
        </p:txBody>
      </p:sp>
      <p:sp>
        <p:nvSpPr>
          <p:cNvPr id="8" name="text-tkdj0i4">
            <a:extLst xmlns:a="http://schemas.openxmlformats.org/drawingml/2006/main">
              <a:ext uri="{FF2B5EF4-FFF2-40B4-BE49-F238E27FC236}">
                <a16:creationId xmlns:a16="http://schemas.microsoft.com/office/drawing/2014/main" id="{B2CBFC4B-A60A-4B01-8C8C-A21EDF89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Review Conclusion</a:t>
            </a:r>
          </a:p>
        </p:txBody>
      </p:sp>
      <p:sp>
        <p:nvSpPr>
          <p:cNvPr id="9" name="text-k9nr4vz">
            <a:extLst xmlns:a="http://schemas.openxmlformats.org/drawingml/2006/main">
              <a:ext uri="{FF2B5EF4-FFF2-40B4-BE49-F238E27FC236}">
                <a16:creationId xmlns:a16="http://schemas.microsoft.com/office/drawing/2014/main" id="{370AE59A-5CC1-497D-B65D-D50624C4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18648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2026-08-17T14:04:44.2450000Z</dcterms:created>
  <dcterms:modified xsi:type="dcterms:W3CDTF">2026-08-17T14:04:44.2450000Z</dcterms:modified>
</coreProperties>
</file>